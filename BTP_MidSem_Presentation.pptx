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- 10 s
Greet, give the title once, name the three of us and the supervisor.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- 15 s
One sentence: 'I'll cover the problem and the literature, Yash takes the method, Sajan takes the results.'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- 65 s
Fibre carries data as light. Vary amplitude AND phase and one pulse carries several bits - that pulse is a symbol, the allowed set is the modulation format, and on the I-Q plane it is the constellation diagram. Point at the picture. Then the problem: networks switch format with link conditions, and the receiver cannot demodulate until it knows which arrived. PAUSE on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- 60 s
Four groups, one line each. Cumulants are classical because Gaussian noise cancels at fourth order. Others swapped in different hand-crafted representations. Then CNNs on constellation images. Wireless has asked a similar question - say it out loud, do not hide it. Land hard on the last bullet: every optical comparison changes the model and the input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- 40 s
Read the first objective properly, skim the rest. The point: we set out to ANSWER a question, not build a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- 65 s
We simulate - no public optical constellation dataset exists and we need exactly controlled OSNR sweeps. Walk the chain quickly, then stop on validation: the fourth-order cumulant of a noiseless constellation is exact algebra and we match it to within 0.004. That is the answer to 'how do you know your simulator is right?'. Finish on all three representations coming from the SAME realisation.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- 70 s
The contribution slide. Spend the time. Across a row only the algorithm changes; down the deep column only the input changes. The MLP is the cell nobody fills. Say why it settles the question either way: near the SVM means representation matters, near the CNN means the model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SAJAN - 90 s
Your only results slide, so give it room. Let them read the chart for three seconds first. Three different algorithms on identical features sit within 1.83 points. The CNN gains 5.32 over the strongest of them - 2.9 times as much. If asked why 5.32 and not 5.65: we compare against the BEST baseline because it is the harder test. Then the 7 dB margin, which converts into reach. Then generalisation - 97.45% on OSNR levels never seen, so it learned the physics not the noise levels. Then capture length - 512 symbols beats the SVM at 4096.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SAJAN - 60 s
This slide does two jobs. First: four further experiments ARE complete - say complete, not 'planned' - with analysis in preparation. One line each, no more. If anyone asks for a number, give it immediately; never look evasive. Second: state the Phase 2 plan with conviction. Do NOT ask them to choose. Say what you are doing and why nonlinearity is first. If they want to redirect you they will say so, and then you thank them and write it down. Asking a committee to pick for you invites the reading that you have not thought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- 45 s
Read the first and last bullets properly. The representation is the dominant design variable. It is not an artefact of training. End on the Phase 1 / Phase 2 line - it frames everything that follows in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NITESH - 25 s
Manuscript is complete and compiles; targeting QPAIN 2027, deadline 30 November. Be straight that it is not submitted. Mention the code is public and every number regenerates from a fixed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- 5 s
Do not read these. Leave the slide up and say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274320" y="201168"/>
            <a:ext cx="8595360" cy="365760"/>
          </a:xfrm>
          <a:prstGeom prst="rect">
            <a:avLst/>
          </a:prstGeom>
          <a:noFill/>
          <a:ln/>
        </p:spPr>
        <p:txBody>
          <a:bodyPr wrap="square" rtlCol="0" anchor="ctr"/>
          <a:lstStyle/>
          <a:p>
            <a:pPr algn="ctr" indent="0" marL="0">
              <a:buNone/>
            </a:pPr>
            <a:r>
              <a:rPr lang="en-US" sz="1900" b="1" dirty="0">
                <a:solidFill>
                  <a:srgbClr val="000000"/>
                </a:solidFill>
                <a:latin typeface="Times New Roman" pitchFamily="34" charset="0"/>
                <a:ea typeface="Times New Roman" pitchFamily="34" charset="-122"/>
                <a:cs typeface="Times New Roman" pitchFamily="34" charset="-120"/>
              </a:rPr>
              <a:t>BTP I MEMEC702 MID SEM EVALUATION</a:t>
            </a:r>
            <a:endParaRPr lang="en-US" sz="1900" dirty="0"/>
          </a:p>
        </p:txBody>
      </p:sp>
      <p:pic>
        <p:nvPicPr>
          <p:cNvPr id="3" name="Image 0" descr="C:\Users\Lenovo\AppData\Local\Temp\claude\C--Users-Lenovo\cf277e2f-4c0a-439c-9171-7ad71876162f\scratchpad\deck\logo-000.png">    </p:cNvPr>
          <p:cNvPicPr>
            <a:picLocks noChangeAspect="1"/>
          </p:cNvPicPr>
          <p:nvPr/>
        </p:nvPicPr>
        <p:blipFill>
          <a:blip r:embed="rId1"/>
          <a:stretch>
            <a:fillRect/>
          </a:stretch>
        </p:blipFill>
        <p:spPr>
          <a:xfrm>
            <a:off x="3611880" y="658368"/>
            <a:ext cx="1920240" cy="1920240"/>
          </a:xfrm>
          <a:prstGeom prst="rect">
            <a:avLst/>
          </a:prstGeom>
        </p:spPr>
      </p:pic>
      <p:sp>
        <p:nvSpPr>
          <p:cNvPr id="4" name="Text 1"/>
          <p:cNvSpPr txBox="1"/>
          <p:nvPr/>
        </p:nvSpPr>
        <p:spPr>
          <a:xfrm>
            <a:off x="365760" y="2743200"/>
            <a:ext cx="8412480" cy="868680"/>
          </a:xfrm>
          <a:prstGeom prst="rect">
            <a:avLst/>
          </a:prstGeom>
          <a:noFill/>
          <a:ln/>
        </p:spPr>
        <p:txBody>
          <a:bodyPr wrap="square" rtlCol="0" anchor="ctr"/>
          <a:lstStyle/>
          <a:p>
            <a:pPr algn="ctr" indent="0" marL="0">
              <a:lnSpc>
                <a:spcPct val="115000"/>
              </a:lnSpc>
              <a:buNone/>
            </a:pPr>
            <a:r>
              <a:rPr lang="en-US" sz="2100" dirty="0">
                <a:solidFill>
                  <a:srgbClr val="000000"/>
                </a:solidFill>
                <a:latin typeface="Times New Roman" pitchFamily="34" charset="0"/>
                <a:ea typeface="Times New Roman" pitchFamily="34" charset="-122"/>
                <a:cs typeface="Times New Roman" pitchFamily="34" charset="-120"/>
              </a:rPr>
              <a:t>INPUT REPRESENTATION DOMINATES MODEL CHOICE IN</a:t>
            </a:r>
            <a:endParaRPr lang="en-US" sz="2100" dirty="0"/>
          </a:p>
          <a:p>
            <a:pPr algn="ctr" indent="0" marL="0">
              <a:lnSpc>
                <a:spcPct val="115000"/>
              </a:lnSpc>
              <a:buNone/>
            </a:pPr>
            <a:r>
              <a:rPr lang="en-US" sz="2100" dirty="0">
                <a:solidFill>
                  <a:srgbClr val="000000"/>
                </a:solidFill>
                <a:latin typeface="Times New Roman" pitchFamily="34" charset="0"/>
                <a:ea typeface="Times New Roman" pitchFamily="34" charset="-122"/>
                <a:cs typeface="Times New Roman" pitchFamily="34" charset="-120"/>
              </a:rPr>
              <a:t>MACHINE-LEARNING MODULATION FORMAT IDENTIFICATION</a:t>
            </a:r>
            <a:endParaRPr lang="en-US" sz="2100" dirty="0"/>
          </a:p>
        </p:txBody>
      </p:sp>
      <p:sp>
        <p:nvSpPr>
          <p:cNvPr id="5" name="Text 2"/>
          <p:cNvSpPr txBox="1"/>
          <p:nvPr/>
        </p:nvSpPr>
        <p:spPr>
          <a:xfrm>
            <a:off x="1965960" y="3767328"/>
            <a:ext cx="219456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2023UEA7232</a:t>
            </a:r>
            <a:endParaRPr lang="en-US" sz="1600" dirty="0"/>
          </a:p>
        </p:txBody>
      </p:sp>
      <p:sp>
        <p:nvSpPr>
          <p:cNvPr id="6" name="Text 3"/>
          <p:cNvSpPr txBox="1"/>
          <p:nvPr/>
        </p:nvSpPr>
        <p:spPr>
          <a:xfrm>
            <a:off x="4434840" y="3767328"/>
            <a:ext cx="292608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Nitesh Kumar Yadav</a:t>
            </a:r>
            <a:endParaRPr lang="en-US" sz="1600" dirty="0"/>
          </a:p>
        </p:txBody>
      </p:sp>
      <p:sp>
        <p:nvSpPr>
          <p:cNvPr id="7" name="Text 4"/>
          <p:cNvSpPr txBox="1"/>
          <p:nvPr/>
        </p:nvSpPr>
        <p:spPr>
          <a:xfrm>
            <a:off x="1965960" y="4078224"/>
            <a:ext cx="219456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2023UEA7225</a:t>
            </a:r>
            <a:endParaRPr lang="en-US" sz="1600" dirty="0"/>
          </a:p>
        </p:txBody>
      </p:sp>
      <p:sp>
        <p:nvSpPr>
          <p:cNvPr id="8" name="Text 5"/>
          <p:cNvSpPr txBox="1"/>
          <p:nvPr/>
        </p:nvSpPr>
        <p:spPr>
          <a:xfrm>
            <a:off x="4434840" y="4078224"/>
            <a:ext cx="292608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Yash Mittal</a:t>
            </a:r>
            <a:endParaRPr lang="en-US" sz="1600" dirty="0"/>
          </a:p>
        </p:txBody>
      </p:sp>
      <p:sp>
        <p:nvSpPr>
          <p:cNvPr id="9" name="Text 6"/>
          <p:cNvSpPr txBox="1"/>
          <p:nvPr/>
        </p:nvSpPr>
        <p:spPr>
          <a:xfrm>
            <a:off x="1965960" y="4389120"/>
            <a:ext cx="219456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2023UEA6603</a:t>
            </a:r>
            <a:endParaRPr lang="en-US" sz="1600" dirty="0"/>
          </a:p>
        </p:txBody>
      </p:sp>
      <p:sp>
        <p:nvSpPr>
          <p:cNvPr id="10" name="Text 7"/>
          <p:cNvSpPr txBox="1"/>
          <p:nvPr/>
        </p:nvSpPr>
        <p:spPr>
          <a:xfrm>
            <a:off x="4434840" y="4389120"/>
            <a:ext cx="2926080" cy="292608"/>
          </a:xfrm>
          <a:prstGeom prst="rect">
            <a:avLst/>
          </a:prstGeom>
          <a:noFill/>
          <a:ln/>
        </p:spPr>
        <p:txBody>
          <a:bodyPr wrap="square"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Sajan</a:t>
            </a:r>
            <a:endParaRPr lang="en-US" sz="1600" dirty="0"/>
          </a:p>
        </p:txBody>
      </p:sp>
      <p:sp>
        <p:nvSpPr>
          <p:cNvPr id="11" name="Text 8"/>
          <p:cNvSpPr txBox="1"/>
          <p:nvPr/>
        </p:nvSpPr>
        <p:spPr>
          <a:xfrm>
            <a:off x="548640" y="4892040"/>
            <a:ext cx="8046720" cy="1554480"/>
          </a:xfrm>
          <a:prstGeom prst="rect">
            <a:avLst/>
          </a:prstGeom>
          <a:noFill/>
          <a:ln/>
        </p:spPr>
        <p:txBody>
          <a:bodyPr wrap="square" rtlCol="0" anchor="ctr"/>
          <a:lstStyle/>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Under Supervision of</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Dr. Manisha Khulbe</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Department of Electronics and Communication Engineering</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Netaji Subhas University of Technology, East Campus</a:t>
            </a:r>
            <a:endParaRPr lang="en-US" sz="1600" dirty="0"/>
          </a:p>
          <a:p>
            <a:pPr algn="ctr" indent="0" marL="0">
              <a:lnSpc>
                <a:spcPct val="112000"/>
              </a:lnSpc>
              <a:buNone/>
            </a:pPr>
            <a:r>
              <a:rPr lang="en-US" sz="1600" dirty="0">
                <a:solidFill>
                  <a:srgbClr val="000000"/>
                </a:solidFill>
                <a:latin typeface="Times New Roman" pitchFamily="34" charset="0"/>
                <a:ea typeface="Times New Roman" pitchFamily="34" charset="-122"/>
                <a:cs typeface="Times New Roman" pitchFamily="34" charset="-120"/>
              </a:rPr>
              <a:t>Geeta Colony, New Delhi - 110031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CONTENT</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a:t>
            </a:r>
            <a:endParaRPr lang="en-US" sz="1100" dirty="0"/>
          </a:p>
        </p:txBody>
      </p:sp>
      <p:sp>
        <p:nvSpPr>
          <p:cNvPr id="5" name="Text 3"/>
          <p:cNvSpPr txBox="1"/>
          <p:nvPr/>
        </p:nvSpPr>
        <p:spPr>
          <a:xfrm>
            <a:off x="1280160" y="1143000"/>
            <a:ext cx="6949440" cy="5120640"/>
          </a:xfrm>
          <a:prstGeom prst="rect">
            <a:avLst/>
          </a:prstGeom>
          <a:noFill/>
          <a:ln/>
        </p:spPr>
        <p:txBody>
          <a:bodyPr wrap="square" rtlCol="0" anchor="t"/>
          <a:lstStyle/>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Introduction</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Literature Review</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Objectives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Methods/Materials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Experimentation/Modeling</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Results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Conclusions</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Publication (If any)</a:t>
            </a:r>
            <a:endParaRPr lang="en-US" sz="2400" dirty="0"/>
          </a:p>
          <a:p>
            <a:pPr marL="342900" indent="-342900">
              <a:spcAft>
                <a:spcPts val="1000"/>
              </a:spcAft>
              <a:buSzPct val="100000"/>
              <a:buChar char="▪"/>
            </a:pPr>
            <a:r>
              <a:rPr lang="en-US" sz="2400" b="1" dirty="0">
                <a:solidFill>
                  <a:srgbClr val="0070C0"/>
                </a:solidFill>
                <a:latin typeface="Times New Roman" pitchFamily="34" charset="0"/>
                <a:ea typeface="Times New Roman" pitchFamily="34" charset="-122"/>
                <a:cs typeface="Times New Roman" pitchFamily="34" charset="-120"/>
              </a:rPr>
              <a:t>References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INTRODUCTION</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2</a:t>
            </a:r>
            <a:endParaRPr lang="en-US" sz="1100" dirty="0"/>
          </a:p>
        </p:txBody>
      </p:sp>
      <p:sp>
        <p:nvSpPr>
          <p:cNvPr id="5" name="Text 3"/>
          <p:cNvSpPr txBox="1"/>
          <p:nvPr/>
        </p:nvSpPr>
        <p:spPr>
          <a:xfrm>
            <a:off x="457200" y="1051560"/>
            <a:ext cx="5029200" cy="4846320"/>
          </a:xfrm>
          <a:prstGeom prst="rect">
            <a:avLst/>
          </a:prstGeom>
          <a:noFill/>
          <a:ln/>
        </p:spPr>
        <p:txBody>
          <a:bodyPr wrap="square" rtlCol="0" anchor="t"/>
          <a:lstStyle/>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Optical fibre carries data as light. Varying both amplitude and phase lets one pulse (a symbol) carry several bits.</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The set of allowed (amplitude, phase) points is the modulation format; plotted on the I–Q plane it forms the constellation diagram.</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Elastic optical networks switch format with link conditions — 64-QAM on a short clean link, QPSK on a long noisy one.</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The receiver cannot demodulate until it knows which format arrived. Traditionally this is negotiated over a control channel.</a:t>
            </a:r>
            <a:endParaRPr lang="en-US" sz="1550" dirty="0"/>
          </a:p>
          <a:p>
            <a:pPr marL="342900" indent="-342900">
              <a:spcAft>
                <a:spcPts val="11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Modulation Format Identification (MFI) infers the format from the received signal alone, with no control channel — a core function of Optical Performance Monitoring.</a:t>
            </a:r>
            <a:endParaRPr lang="en-US" sz="1550" dirty="0"/>
          </a:p>
        </p:txBody>
      </p:sp>
      <p:pic>
        <p:nvPicPr>
          <p:cNvPr id="6" name="Image 0" descr="D:\research paper\figures\sample_constellations.png">    </p:cNvPr>
          <p:cNvPicPr>
            <a:picLocks noChangeAspect="1"/>
          </p:cNvPicPr>
          <p:nvPr/>
        </p:nvPicPr>
        <p:blipFill>
          <a:blip r:embed="rId1"/>
          <a:stretch>
            <a:fillRect/>
          </a:stretch>
        </p:blipFill>
        <p:spPr>
          <a:xfrm>
            <a:off x="5715000" y="1188720"/>
            <a:ext cx="3063240" cy="3182112"/>
          </a:xfrm>
          <a:prstGeom prst="rect">
            <a:avLst/>
          </a:prstGeom>
        </p:spPr>
      </p:pic>
      <p:sp>
        <p:nvSpPr>
          <p:cNvPr id="7" name="Text 4"/>
          <p:cNvSpPr txBox="1"/>
          <p:nvPr/>
        </p:nvSpPr>
        <p:spPr>
          <a:xfrm>
            <a:off x="5623560" y="4462272"/>
            <a:ext cx="3246120" cy="822960"/>
          </a:xfrm>
          <a:prstGeom prst="rect">
            <a:avLst/>
          </a:prstGeom>
          <a:noFill/>
          <a:ln/>
        </p:spPr>
        <p:txBody>
          <a:bodyPr wrap="square" rtlCol="0" anchor="ctr"/>
          <a:lstStyle/>
          <a:p>
            <a:pPr algn="ctr" indent="0" marL="0">
              <a:buNone/>
            </a:pPr>
            <a:r>
              <a:rPr lang="en-US" sz="1150" i="1" dirty="0">
                <a:solidFill>
                  <a:srgbClr val="444444"/>
                </a:solidFill>
                <a:latin typeface="Times New Roman" pitchFamily="34" charset="0"/>
                <a:ea typeface="Times New Roman" pitchFamily="34" charset="-122"/>
                <a:cs typeface="Times New Roman" pitchFamily="34" charset="-120"/>
              </a:rPr>
              <a:t>Five formats (rows) at decreasing OSNR (columns). At low OSNR the classes become indistinguishable.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LITERATURE REVIEW</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3</a:t>
            </a:r>
            <a:endParaRPr lang="en-US" sz="1100" dirty="0"/>
          </a:p>
        </p:txBody>
      </p:sp>
      <p:sp>
        <p:nvSpPr>
          <p:cNvPr id="5" name="Text 3"/>
          <p:cNvSpPr txBox="1"/>
          <p:nvPr/>
        </p:nvSpPr>
        <p:spPr>
          <a:xfrm>
            <a:off x="548640" y="1051560"/>
            <a:ext cx="8046720" cy="5120640"/>
          </a:xfrm>
          <a:prstGeom prst="rect">
            <a:avLst/>
          </a:prstGeom>
          <a:noFill/>
          <a:ln/>
        </p:spPr>
        <p:txBody>
          <a:bodyPr wrap="square" rtlCol="0" anchor="t"/>
          <a:lstStyle/>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Feature-based MFI: higher-order cumulants are the classical tool — Gaussian noise cancels at 4th order and above [2], [3].</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Other hand-crafted representations: amplitude histograms [5], [15], Stokes-space PCA [12], [13], ANN with genetic feature selection [14].</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Deep learning on constellation images: the intelligent constellation analyzer [4], joint OSNR + MFI [11], SVM on image texture [8], recent CNN case studies [16].</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Wireless parallel: CNNs on raw I/Q [6]; Ge et al. [7] analysed representation effects in wireless AMC; Tian et al. [9] survey DL-AMC by data representation.</a:t>
            </a:r>
            <a:endParaRPr lang="en-US" sz="1600" dirty="0"/>
          </a:p>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Gap: every optical comparison changes the model and the input together, so neither factor is isolated. No study asks whether the representation affects failure self-detection.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OBJECTIVES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4</a:t>
            </a:r>
            <a:endParaRPr lang="en-US" sz="1100" dirty="0"/>
          </a:p>
        </p:txBody>
      </p:sp>
      <p:sp>
        <p:nvSpPr>
          <p:cNvPr id="5" name="Text 3"/>
          <p:cNvSpPr txBox="1"/>
          <p:nvPr/>
        </p:nvSpPr>
        <p:spPr>
          <a:xfrm>
            <a:off x="548640" y="1143000"/>
            <a:ext cx="8046720" cy="5120640"/>
          </a:xfrm>
          <a:prstGeom prst="rect">
            <a:avLst/>
          </a:prstGeom>
          <a:noFill/>
          <a:ln/>
        </p:spPr>
        <p:txBody>
          <a:bodyPr wrap="square" rtlCol="0" anchor="t"/>
          <a:lstStyle/>
          <a:p>
            <a:pPr marL="342900" indent="-342900">
              <a:spcAft>
                <a:spcPts val="900"/>
              </a:spcAft>
              <a:buSzPct val="100000"/>
              <a:buChar char="▪"/>
            </a:pPr>
            <a:r>
              <a:rPr lang="en-US" sz="1700" b="1" dirty="0">
                <a:solidFill>
                  <a:srgbClr val="000000"/>
                </a:solidFill>
                <a:latin typeface="Times New Roman" pitchFamily="34" charset="0"/>
                <a:ea typeface="Times New Roman" pitchFamily="34" charset="-122"/>
                <a:cs typeface="Times New Roman" pitchFamily="34" charset="-120"/>
              </a:rPr>
              <a:t>Determine whether the reported advantage of CNN-based MFI comes from the model or from the input representation.</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Build a coherent optical link simulator with realistic impairments and validate it against exact analytic cumulants.</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Derive three representations — raw I/Q, constellation image, 15 statistical features — from the same signal realisation.</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Isolate the algorithm effect by running three different algorithms on identical features.</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Isolate the representation effect by running trained neural networks on different inputs.</a:t>
            </a:r>
            <a:endParaRPr lang="en-US" sz="1700" dirty="0"/>
          </a:p>
          <a:p>
            <a:pPr marL="342900" indent="-342900">
              <a:spcAft>
                <a:spcPts val="9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Quantify robustness under channel mismatch, and test whether each model can detect its own failure.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METHODS / MATERIALS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5</a:t>
            </a:r>
            <a:endParaRPr lang="en-US" sz="1100" dirty="0"/>
          </a:p>
        </p:txBody>
      </p:sp>
      <p:sp>
        <p:nvSpPr>
          <p:cNvPr id="5" name="Text 3"/>
          <p:cNvSpPr txBox="1"/>
          <p:nvPr/>
        </p:nvSpPr>
        <p:spPr>
          <a:xfrm>
            <a:off x="548640" y="1051560"/>
            <a:ext cx="8046720" cy="5120640"/>
          </a:xfrm>
          <a:prstGeom prst="rect">
            <a:avLst/>
          </a:prstGeom>
          <a:noFill/>
          <a:ln/>
        </p:spPr>
        <p:txBody>
          <a:bodyPr wrap="square" rtlCol="0" anchor="t"/>
          <a:lstStyle/>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Simulated coherent link, 32 GBaud, 5 formats (QPSK – 64-QAM), OSNR 5–25 dB in 1 dB steps, 63,000 captures of 4096 symbols.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Signal chain: symbols → residual chromatic dispersion → laser phase noise + frequency offset → carrier phase recovery → I/Q imbalance → AGC → ASE noise.</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Simulation is required: no public optical constellation dataset exists, and the claim needs exactly controlled OSNR sweeps.</a:t>
            </a:r>
            <a:endParaRPr lang="en-US" sz="1550" dirty="0"/>
          </a:p>
          <a:p>
            <a:pPr marL="342900" indent="-342900">
              <a:spcAft>
                <a:spcPts val="900"/>
              </a:spcAft>
              <a:buSzPct val="100000"/>
              <a:buChar char="▪"/>
            </a:pPr>
            <a:r>
              <a:rPr lang="en-US" sz="1550" b="1" dirty="0">
                <a:solidFill>
                  <a:srgbClr val="000000"/>
                </a:solidFill>
                <a:latin typeface="Times New Roman" pitchFamily="34" charset="0"/>
                <a:ea typeface="Times New Roman" pitchFamily="34" charset="-122"/>
                <a:cs typeface="Times New Roman" pitchFamily="34" charset="-120"/>
              </a:rPr>
              <a:t>Validation: normalised 4th-order cumulant is an exact finite sum for a noiseless constellation. Simulator matches theory to within 0.004 for all five formats.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Three representations from the same realisation: raw I/Q (2×512), 64×64 constellation image (2-D histogram, log-scaled), 15 cumulant and amplitude features.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Split 70/15/15 stratified on (format, OSNR); three seeds (42, 43, 44); scaler fitted inside a Pipeline to prevent leakage.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EXPERIMENTATION / MODELING</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6</a:t>
            </a:r>
            <a:endParaRPr lang="en-US" sz="1100" dirty="0"/>
          </a:p>
        </p:txBody>
      </p:sp>
      <p:sp>
        <p:nvSpPr>
          <p:cNvPr id="5" name="Text 3"/>
          <p:cNvSpPr txBox="1"/>
          <p:nvPr/>
        </p:nvSpPr>
        <p:spPr>
          <a:xfrm>
            <a:off x="548640" y="960120"/>
            <a:ext cx="8046720" cy="320040"/>
          </a:xfrm>
          <a:prstGeom prst="rect">
            <a:avLst/>
          </a:prstGeom>
          <a:noFill/>
          <a:ln/>
        </p:spPr>
        <p:txBody>
          <a:bodyPr wrap="square" rtlCol="0" anchor="ctr"/>
          <a:lstStyle/>
          <a:p>
            <a:pPr indent="0" marL="0">
              <a:buNone/>
            </a:pPr>
            <a:r>
              <a:rPr lang="en-US" sz="1600" dirty="0">
                <a:solidFill>
                  <a:srgbClr val="000000"/>
                </a:solidFill>
                <a:latin typeface="Times New Roman" pitchFamily="34" charset="0"/>
                <a:ea typeface="Times New Roman" pitchFamily="34" charset="-122"/>
                <a:cs typeface="Times New Roman" pitchFamily="34" charset="-120"/>
              </a:rPr>
              <a:t>The comparison in the literature changes two variables at once. We separate them.</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046720" cy="914400"/>
        </p:xfrm>
        <a:graphic>
          <a:graphicData uri="http://schemas.openxmlformats.org/drawingml/2006/table">
            <a:tbl>
              <a:tblPr/>
              <a:tblGrid>
                <a:gridCol w="2651760"/>
                <a:gridCol w="2377440"/>
                <a:gridCol w="3017520"/>
              </a:tblGrid>
              <a:tr h="475488">
                <a:tc>
                  <a:txBody>
                    <a:bodyPr/>
                    <a:lstStyle/>
                    <a:p>
                      <a:pPr indent="0" marL="0">
                        <a:buNone/>
                      </a:pP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Shallow model</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Deep model</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Times New Roman" pitchFamily="34" charset="0"/>
                          <a:ea typeface="Times New Roman" pitchFamily="34" charset="-122"/>
                          <a:cs typeface="Times New Roman" pitchFamily="34" charset="-120"/>
                        </a:rPr>
                        <a:t>15 hand-crafted features</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SVM,  k-NN</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b="1" dirty="0">
                          <a:solidFill>
                            <a:srgbClr val="0070C0"/>
                          </a:solidFill>
                          <a:latin typeface="Times New Roman" pitchFamily="34" charset="0"/>
                          <a:ea typeface="Times New Roman" pitchFamily="34" charset="-122"/>
                          <a:cs typeface="Times New Roman" pitchFamily="34" charset="-120"/>
                        </a:rPr>
                        <a:t>MLP  ← the control nobody includes</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Times New Roman" pitchFamily="34" charset="0"/>
                          <a:ea typeface="Times New Roman" pitchFamily="34" charset="-122"/>
                          <a:cs typeface="Times New Roman" pitchFamily="34" charset="-120"/>
                        </a:rPr>
                        <a:t>64×64 constellation image</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CNN</a:t>
                      </a:r>
                      <a:endParaRPr lang="en-US" sz="1500" dirty="0">
                        <a:latin typeface="Times New Roman" charset="0"/>
                        <a:ea typeface="Times New Roman" charset="0"/>
                        <a:cs typeface="Times New Roman"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sp>
        <p:nvSpPr>
          <p:cNvPr id="7" name="Text 4"/>
          <p:cNvSpPr txBox="1"/>
          <p:nvPr/>
        </p:nvSpPr>
        <p:spPr>
          <a:xfrm>
            <a:off x="548640" y="3200400"/>
            <a:ext cx="8046720" cy="5120640"/>
          </a:xfrm>
          <a:prstGeom prst="rect">
            <a:avLst/>
          </a:prstGeom>
          <a:noFill/>
          <a:ln/>
        </p:spPr>
        <p:txBody>
          <a:bodyPr wrap="square" rtlCol="0" anchor="t"/>
          <a:lstStyle/>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Moving across a row changes only the algorithm → the algorithm effect.</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Moving down the deep-model column changes only the input → the representation effect.</a:t>
            </a:r>
            <a:endParaRPr lang="en-US" sz="1550" dirty="0"/>
          </a:p>
          <a:p>
            <a:pPr marL="342900" indent="-342900">
              <a:spcAft>
                <a:spcPts val="900"/>
              </a:spcAft>
              <a:buSzPct val="100000"/>
              <a:buChar char="▪"/>
            </a:pPr>
            <a:r>
              <a:rPr lang="en-US" sz="1550" b="1" dirty="0">
                <a:solidFill>
                  <a:srgbClr val="000000"/>
                </a:solidFill>
                <a:latin typeface="Times New Roman" pitchFamily="34" charset="0"/>
                <a:ea typeface="Times New Roman" pitchFamily="34" charset="-122"/>
                <a:cs typeface="Times New Roman" pitchFamily="34" charset="-120"/>
              </a:rPr>
              <a:t>The MLP is the critical control: a trained deep network that sees only the 15 features. If MLP ≈ SVM the representation matters; if MLP ≈ CNN the model matters.</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Five classifiers in total: CNN (285,941 params), IQ-CNN (27,781), MLP (11,013), SVM, k-NN.</a:t>
            </a:r>
            <a:endParaRPr lang="en-US" sz="1550" dirty="0"/>
          </a:p>
          <a:p>
            <a:pPr marL="342900" indent="-342900">
              <a:spcAft>
                <a:spcPts val="9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Seven experiments: main comparison, generalisation to unseen OSNR, architecture ablation, capture length, channel robustness, confidence calibration, impairment tolerance.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RESULTS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7</a:t>
            </a:r>
            <a:endParaRPr lang="en-US" sz="1100" dirty="0"/>
          </a:p>
        </p:txBody>
      </p:sp>
      <p:pic>
        <p:nvPicPr>
          <p:cNvPr id="5" name="Image 0" descr="D:\research paper\figures\fig2_representation.png">    </p:cNvPr>
          <p:cNvPicPr>
            <a:picLocks noChangeAspect="1"/>
          </p:cNvPicPr>
          <p:nvPr/>
        </p:nvPicPr>
        <p:blipFill>
          <a:blip r:embed="rId1"/>
          <a:stretch>
            <a:fillRect/>
          </a:stretch>
        </p:blipFill>
        <p:spPr>
          <a:xfrm>
            <a:off x="1737360" y="896112"/>
            <a:ext cx="5669280" cy="3136392"/>
          </a:xfrm>
          <a:prstGeom prst="rect">
            <a:avLst/>
          </a:prstGeom>
        </p:spPr>
      </p:pic>
      <p:sp>
        <p:nvSpPr>
          <p:cNvPr id="6" name="Text 3"/>
          <p:cNvSpPr txBox="1"/>
          <p:nvPr/>
        </p:nvSpPr>
        <p:spPr>
          <a:xfrm>
            <a:off x="502920" y="4133088"/>
            <a:ext cx="8138160" cy="2194560"/>
          </a:xfrm>
          <a:prstGeom prst="rect">
            <a:avLst/>
          </a:prstGeom>
          <a:noFill/>
          <a:ln/>
        </p:spPr>
        <p:txBody>
          <a:bodyPr wrap="square" rtlCol="0" anchor="t"/>
          <a:lstStyle/>
          <a:p>
            <a:pPr marL="342900" indent="-342900">
              <a:spcAft>
                <a:spcPts val="500"/>
              </a:spcAft>
              <a:buSzPct val="100000"/>
              <a:buChar char="▪"/>
            </a:pPr>
            <a:r>
              <a:rPr lang="en-US" sz="1350" dirty="0">
                <a:solidFill>
                  <a:srgbClr val="000000"/>
                </a:solidFill>
                <a:latin typeface="Times New Roman" pitchFamily="34" charset="0"/>
                <a:ea typeface="Times New Roman" pitchFamily="34" charset="-122"/>
                <a:cs typeface="Times New Roman" pitchFamily="34" charset="-120"/>
              </a:rPr>
              <a:t>Algorithm effect: 1.83 points — the spread across MLP, SVM and k-NN on identical features.</a:t>
            </a:r>
            <a:endParaRPr lang="en-US" sz="1350" dirty="0"/>
          </a:p>
          <a:p>
            <a:pPr marL="342900" indent="-342900">
              <a:spcAft>
                <a:spcPts val="500"/>
              </a:spcAft>
              <a:buSzPct val="100000"/>
              <a:buChar char="▪"/>
            </a:pPr>
            <a:r>
              <a:rPr lang="en-US" sz="1350" b="1" dirty="0">
                <a:solidFill>
                  <a:srgbClr val="000000"/>
                </a:solidFill>
                <a:latin typeface="Times New Roman" pitchFamily="34" charset="0"/>
                <a:ea typeface="Times New Roman" pitchFamily="34" charset="-122"/>
                <a:cs typeface="Times New Roman" pitchFamily="34" charset="-120"/>
              </a:rPr>
              <a:t>Representation effect: 5.32 points — the CNN over the strongest of them. 2.9× larger.</a:t>
            </a:r>
            <a:endParaRPr lang="en-US" sz="1350" dirty="0"/>
          </a:p>
          <a:p>
            <a:pPr marL="342900" indent="-342900">
              <a:spcAft>
                <a:spcPts val="500"/>
              </a:spcAft>
              <a:buSzPct val="100000"/>
              <a:buChar char="▪"/>
            </a:pPr>
            <a:r>
              <a:rPr lang="en-US" sz="1350" dirty="0">
                <a:solidFill>
                  <a:srgbClr val="000000"/>
                </a:solidFill>
                <a:latin typeface="Times New Roman" pitchFamily="34" charset="0"/>
                <a:ea typeface="Times New Roman" pitchFamily="34" charset="-122"/>
                <a:cs typeface="Times New Roman" pitchFamily="34" charset="-120"/>
              </a:rPr>
              <a:t>A 7 dB OSNR margin: the CNN reaches 95 % at 7 dB where the SVM needs 14 dB.</a:t>
            </a:r>
            <a:endParaRPr lang="en-US" sz="1350" dirty="0"/>
          </a:p>
          <a:p>
            <a:pPr marL="342900" indent="-342900">
              <a:spcAft>
                <a:spcPts val="500"/>
              </a:spcAft>
              <a:buSzPct val="100000"/>
              <a:buChar char="▪"/>
            </a:pPr>
            <a:r>
              <a:rPr lang="en-US" sz="1350" dirty="0">
                <a:solidFill>
                  <a:srgbClr val="000000"/>
                </a:solidFill>
                <a:latin typeface="Times New Roman" pitchFamily="34" charset="0"/>
                <a:ea typeface="Times New Roman" pitchFamily="34" charset="-122"/>
                <a:cs typeface="Times New Roman" pitchFamily="34" charset="-120"/>
              </a:rPr>
              <a:t>Generalisation: 97.45 ± 0.16 % on OSNR levels withheld from training — it learned the physics, not the noise levels.</a:t>
            </a:r>
            <a:endParaRPr lang="en-US" sz="1350" dirty="0"/>
          </a:p>
          <a:p>
            <a:pPr marL="342900" indent="-342900">
              <a:spcAft>
                <a:spcPts val="500"/>
              </a:spcAft>
              <a:buSzPct val="100000"/>
              <a:buChar char="▪"/>
            </a:pPr>
            <a:r>
              <a:rPr lang="en-US" sz="1350" dirty="0">
                <a:solidFill>
                  <a:srgbClr val="000000"/>
                </a:solidFill>
                <a:latin typeface="Times New Roman" pitchFamily="34" charset="0"/>
                <a:ea typeface="Times New Roman" pitchFamily="34" charset="-122"/>
                <a:cs typeface="Times New Roman" pitchFamily="34" charset="-120"/>
              </a:rPr>
              <a:t>Capture length: the CNN with 512 symbols (94.08 %) beats the SVM with 4096 (93.82 %).</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WORK IN PROGRESS AND NEXT STEPS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8</a:t>
            </a:r>
            <a:endParaRPr lang="en-US" sz="1100" dirty="0"/>
          </a:p>
        </p:txBody>
      </p:sp>
      <p:sp>
        <p:nvSpPr>
          <p:cNvPr id="5" name="Text 3"/>
          <p:cNvSpPr txBox="1"/>
          <p:nvPr/>
        </p:nvSpPr>
        <p:spPr>
          <a:xfrm>
            <a:off x="502920" y="932688"/>
            <a:ext cx="8138160" cy="320040"/>
          </a:xfrm>
          <a:prstGeom prst="rect">
            <a:avLst/>
          </a:prstGeom>
          <a:noFill/>
          <a:ln/>
        </p:spPr>
        <p:txBody>
          <a:bodyPr wrap="square" rtlCol="0" anchor="ctr"/>
          <a:lstStyle/>
          <a:p>
            <a:pPr indent="0" marL="0">
              <a:buNone/>
            </a:pPr>
            <a:r>
              <a:rPr lang="en-US" sz="1550" b="1" dirty="0">
                <a:solidFill>
                  <a:srgbClr val="000000"/>
                </a:solidFill>
                <a:latin typeface="Times New Roman" pitchFamily="34" charset="0"/>
                <a:ea typeface="Times New Roman" pitchFamily="34" charset="-122"/>
                <a:cs typeface="Times New Roman" pitchFamily="34" charset="-120"/>
              </a:rPr>
              <a:t>Four further experiments are complete; detailed analysis is in preparation for the end-semester review:</a:t>
            </a:r>
            <a:endParaRPr lang="en-US" sz="1550" dirty="0"/>
          </a:p>
        </p:txBody>
      </p:sp>
      <p:sp>
        <p:nvSpPr>
          <p:cNvPr id="6" name="Text 4"/>
          <p:cNvSpPr txBox="1"/>
          <p:nvPr/>
        </p:nvSpPr>
        <p:spPr>
          <a:xfrm>
            <a:off x="685800" y="1325880"/>
            <a:ext cx="7955280" cy="2103120"/>
          </a:xfrm>
          <a:prstGeom prst="rect">
            <a:avLst/>
          </a:prstGeom>
          <a:noFill/>
          <a:ln/>
        </p:spPr>
        <p:txBody>
          <a:bodyPr wrap="square" rtlCol="0" anchor="t"/>
          <a:lstStyle/>
          <a:p>
            <a:pPr marL="342900" indent="-342900">
              <a:spcAft>
                <a:spcPts val="7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Channel robustness — under a channel it was not trained on, the feature-based classifier falls to 21.8 %, against a 20 % chance level.</a:t>
            </a:r>
            <a:endParaRPr lang="en-US" sz="1400" dirty="0"/>
          </a:p>
          <a:p>
            <a:pPr marL="342900" indent="-342900">
              <a:spcAft>
                <a:spcPts val="7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Failure self-detection — at a 90 % confidence gate the two representations differ by roughly 447× in how many inputs they can still answer.</a:t>
            </a:r>
            <a:endParaRPr lang="en-US" sz="1400" dirty="0"/>
          </a:p>
          <a:p>
            <a:pPr marL="342900" indent="-342900">
              <a:spcAft>
                <a:spcPts val="7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Impairment tolerance — including one case, residual chromatic dispersion, where the feature-based model outperforms the CNN.</a:t>
            </a:r>
            <a:endParaRPr lang="en-US" sz="1400" dirty="0"/>
          </a:p>
          <a:p>
            <a:pPr marL="342900" indent="-342900">
              <a:spcAft>
                <a:spcPts val="7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Architecture ablation — accuracy is insensitive to model capacity across a 9.2× range in parameter count.</a:t>
            </a:r>
            <a:endParaRPr lang="en-US" sz="1400" dirty="0"/>
          </a:p>
        </p:txBody>
      </p:sp>
      <p:sp>
        <p:nvSpPr>
          <p:cNvPr id="7" name="Text 5"/>
          <p:cNvSpPr txBox="1"/>
          <p:nvPr/>
        </p:nvSpPr>
        <p:spPr>
          <a:xfrm>
            <a:off x="502920" y="3566160"/>
            <a:ext cx="8138160" cy="320040"/>
          </a:xfrm>
          <a:prstGeom prst="rect">
            <a:avLst/>
          </a:prstGeom>
          <a:noFill/>
          <a:ln/>
        </p:spPr>
        <p:txBody>
          <a:bodyPr wrap="square" rtlCol="0" anchor="ctr"/>
          <a:lstStyle/>
          <a:p>
            <a:pPr indent="0" marL="0">
              <a:buNone/>
            </a:pPr>
            <a:r>
              <a:rPr lang="en-US" sz="1550" b="1" dirty="0">
                <a:solidFill>
                  <a:srgbClr val="000000"/>
                </a:solidFill>
                <a:latin typeface="Times New Roman" pitchFamily="34" charset="0"/>
                <a:ea typeface="Times New Roman" pitchFamily="34" charset="-122"/>
                <a:cs typeface="Times New Roman" pitchFamily="34" charset="-120"/>
              </a:rPr>
              <a:t>Planned work for the remainder of the project:</a:t>
            </a:r>
            <a:endParaRPr lang="en-US" sz="1550" dirty="0"/>
          </a:p>
        </p:txBody>
      </p:sp>
      <p:sp>
        <p:nvSpPr>
          <p:cNvPr id="8" name="Text 6"/>
          <p:cNvSpPr txBox="1"/>
          <p:nvPr/>
        </p:nvSpPr>
        <p:spPr>
          <a:xfrm>
            <a:off x="685800" y="3959352"/>
            <a:ext cx="7955280" cy="1645920"/>
          </a:xfrm>
          <a:prstGeom prst="rect">
            <a:avLst/>
          </a:prstGeom>
          <a:noFill/>
          <a:ln/>
        </p:spPr>
        <p:txBody>
          <a:bodyPr wrap="square" rtlCol="0" anchor="t"/>
          <a:lstStyle/>
          <a:p>
            <a:pPr marL="342900" indent="-342900">
              <a:spcAft>
                <a:spcPts val="7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1.  Fibre nonlinearity. Our robustness result already makes a falsifiable prediction here — nonlinear interference is not Gaussian, so the feature-based models should degrade further. We begin with this.</a:t>
            </a:r>
            <a:endParaRPr lang="en-US" sz="1400" dirty="0"/>
          </a:p>
          <a:p>
            <a:pPr marL="342900" indent="-342900">
              <a:spcAft>
                <a:spcPts val="7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2.  Polarisation-multiplexed signals, closing the principal realism gap against deployed systems.</a:t>
            </a:r>
            <a:endParaRPr lang="en-US" sz="1400" dirty="0"/>
          </a:p>
          <a:p>
            <a:pPr marL="342900" indent="-342900">
              <a:spcAft>
                <a:spcPts val="7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3.  Establishing the mechanism behind the chromatic dispersion case, where our own result inverts.</a:t>
            </a:r>
            <a:endParaRPr lang="en-US" sz="1400" dirty="0"/>
          </a:p>
        </p:txBody>
      </p:sp>
      <p:sp>
        <p:nvSpPr>
          <p:cNvPr id="9" name="Text 7"/>
          <p:cNvSpPr txBox="1"/>
          <p:nvPr/>
        </p:nvSpPr>
        <p:spPr>
          <a:xfrm>
            <a:off x="502920" y="5669280"/>
            <a:ext cx="8138160" cy="365760"/>
          </a:xfrm>
          <a:prstGeom prst="rect">
            <a:avLst/>
          </a:prstGeom>
          <a:noFill/>
          <a:ln/>
        </p:spPr>
        <p:txBody>
          <a:bodyPr wrap="square" rtlCol="0" anchor="ctr"/>
          <a:lstStyle/>
          <a:p>
            <a:pPr algn="ctr" indent="0" marL="0">
              <a:buNone/>
            </a:pPr>
            <a:r>
              <a:rPr lang="en-US" sz="1550" b="1" dirty="0">
                <a:solidFill>
                  <a:srgbClr val="0070C0"/>
                </a:solidFill>
                <a:latin typeface="Times New Roman" pitchFamily="34" charset="0"/>
                <a:ea typeface="Times New Roman" pitchFamily="34" charset="-122"/>
                <a:cs typeface="Times New Roman" pitchFamily="34" charset="-120"/>
              </a:rPr>
              <a:t>Phase 2 begins with the nonlinearity experiment; its design is already fixed by the Phase 1 result.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CONCLUSIONS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9</a:t>
            </a:r>
            <a:endParaRPr lang="en-US" sz="1100" dirty="0"/>
          </a:p>
        </p:txBody>
      </p:sp>
      <p:sp>
        <p:nvSpPr>
          <p:cNvPr id="5" name="Text 3"/>
          <p:cNvSpPr txBox="1"/>
          <p:nvPr/>
        </p:nvSpPr>
        <p:spPr>
          <a:xfrm>
            <a:off x="548640" y="1097280"/>
            <a:ext cx="8046720" cy="5120640"/>
          </a:xfrm>
          <a:prstGeom prst="rect">
            <a:avLst/>
          </a:prstGeom>
          <a:noFill/>
          <a:ln/>
        </p:spPr>
        <p:txBody>
          <a:bodyPr wrap="square" rtlCol="0" anchor="t"/>
          <a:lstStyle/>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The input representation, not the learning algorithm, is the dominant design variable in optical modulation format identification — worth 2.9× as much.</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Three very different algorithms on identical features perform within 1.83 points of one another. Adding depth to the feature pipeline bought nothing.</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The advantage is not an artefact of training: 97.45 % on OSNR levels never seen, and it holds on captures eight times shorter.</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The simulator is validated against exact analytic cumulants, and every reported number is recomputed from saved weights by an independent script.</a:t>
            </a:r>
            <a:endParaRPr lang="en-US" sz="1600" dirty="0"/>
          </a:p>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Phase 1 has answered the question we set. Phase 2 examines where the advantage breaks down, and why.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PUBLICATION</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10</a:t>
            </a:r>
            <a:endParaRPr lang="en-US" sz="1100" dirty="0"/>
          </a:p>
        </p:txBody>
      </p:sp>
      <p:sp>
        <p:nvSpPr>
          <p:cNvPr id="5" name="Text 3"/>
          <p:cNvSpPr txBox="1"/>
          <p:nvPr/>
        </p:nvSpPr>
        <p:spPr>
          <a:xfrm>
            <a:off x="548640" y="1143000"/>
            <a:ext cx="8046720" cy="5120640"/>
          </a:xfrm>
          <a:prstGeom prst="rect">
            <a:avLst/>
          </a:prstGeom>
          <a:noFill/>
          <a:ln/>
        </p:spPr>
        <p:txBody>
          <a:bodyPr wrap="square" rtlCol="0" anchor="t"/>
          <a:lstStyle/>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Manuscript complete in IEEE conference format: 8 pages, 9 figures, 10 references, compiles clean with zero overfull boxes.</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Title: “Input Representation Dominates Model Choice in Machine-Learning Modulation Format Identification”.</a:t>
            </a:r>
            <a:endParaRPr lang="en-US" sz="1600" dirty="0"/>
          </a:p>
          <a:p>
            <a:pPr marL="342900" indent="-342900">
              <a:spcAft>
                <a:spcPts val="900"/>
              </a:spcAft>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Target venue: QPAIN 2027 — IEEE 3rd International Conference on Quantum Photonics, AI and Networking. Submission deadline 30 November 2026.</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IEEE Photonics Society sponsored; indexed in IEEE Xplore and Scopus. Backup venue: PHOTOPTICS.</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Status: not yet submitted. Remaining work is a trim from 8 pages to the 4–6 page limit.</a:t>
            </a:r>
            <a:endParaRPr lang="en-US" sz="1600" dirty="0"/>
          </a:p>
          <a:p>
            <a:pPr marL="342900" indent="-342900">
              <a:spcAft>
                <a:spcPts val="9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Code and data-generation scripts are public at github.com/techi101/optical-mfi-representation; every number regenerates from a fixed seed.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74320" y="164592"/>
            <a:ext cx="8595360" cy="658368"/>
          </a:xfrm>
          <a:prstGeom prst="rect">
            <a:avLst/>
          </a:prstGeom>
          <a:noFill/>
          <a:ln/>
        </p:spPr>
        <p:txBody>
          <a:bodyPr wrap="square" rtlCol="0" anchor="ctr"/>
          <a:lstStyle/>
          <a:p>
            <a:pPr algn="ctr" indent="0" marL="0">
              <a:buNone/>
            </a:pPr>
            <a:r>
              <a:rPr lang="en-US" sz="3200" b="1" dirty="0">
                <a:solidFill>
                  <a:srgbClr val="0070C0"/>
                </a:solidFill>
                <a:latin typeface="Times New Roman" pitchFamily="34" charset="0"/>
                <a:ea typeface="Times New Roman" pitchFamily="34" charset="-122"/>
                <a:cs typeface="Times New Roman" pitchFamily="34" charset="-120"/>
              </a:rPr>
              <a:t>REFERENCES</a:t>
            </a:r>
            <a:endParaRPr lang="en-US" sz="3200" dirty="0"/>
          </a:p>
        </p:txBody>
      </p:sp>
      <p:sp>
        <p:nvSpPr>
          <p:cNvPr id="3" name="Text 1"/>
          <p:cNvSpPr txBox="1"/>
          <p:nvPr/>
        </p:nvSpPr>
        <p:spPr>
          <a:xfrm>
            <a:off x="2743200" y="6446520"/>
            <a:ext cx="3657600" cy="274320"/>
          </a:xfrm>
          <a:prstGeom prst="rect">
            <a:avLst/>
          </a:prstGeom>
          <a:noFill/>
          <a:ln/>
        </p:spPr>
        <p:txBody>
          <a:bodyPr wrap="square" rtlCol="0" anchor="ctr"/>
          <a:lstStyle/>
          <a:p>
            <a:pPr algn="ctr" indent="0" marL="0">
              <a:buNone/>
            </a:pPr>
            <a:r>
              <a:rPr lang="en-US" sz="1100" dirty="0">
                <a:solidFill>
                  <a:srgbClr val="808080"/>
                </a:solidFill>
                <a:latin typeface="Arial" pitchFamily="34" charset="0"/>
                <a:ea typeface="Arial" pitchFamily="34" charset="-122"/>
                <a:cs typeface="Arial" pitchFamily="34" charset="-120"/>
              </a:rPr>
              <a:t>MEMEC702 MSE</a:t>
            </a:r>
            <a:endParaRPr lang="en-US" sz="1100" dirty="0"/>
          </a:p>
        </p:txBody>
      </p:sp>
      <p:sp>
        <p:nvSpPr>
          <p:cNvPr id="4" name="Text 2"/>
          <p:cNvSpPr txBox="1"/>
          <p:nvPr/>
        </p:nvSpPr>
        <p:spPr>
          <a:xfrm>
            <a:off x="8229600" y="6446520"/>
            <a:ext cx="640080" cy="274320"/>
          </a:xfrm>
          <a:prstGeom prst="rect">
            <a:avLst/>
          </a:prstGeom>
          <a:noFill/>
          <a:ln/>
        </p:spPr>
        <p:txBody>
          <a:bodyPr wrap="square" rtlCol="0" anchor="ctr"/>
          <a:lstStyle/>
          <a:p>
            <a:pPr algn="r" indent="0" marL="0">
              <a:buNone/>
            </a:pPr>
            <a:r>
              <a:rPr lang="en-US" sz="1100" dirty="0">
                <a:solidFill>
                  <a:srgbClr val="808080"/>
                </a:solidFill>
                <a:latin typeface="Arial" pitchFamily="34" charset="0"/>
                <a:ea typeface="Arial" pitchFamily="34" charset="-122"/>
                <a:cs typeface="Arial" pitchFamily="34" charset="-120"/>
              </a:rPr>
              <a:t>11</a:t>
            </a:r>
            <a:endParaRPr lang="en-US" sz="1100" dirty="0"/>
          </a:p>
        </p:txBody>
      </p:sp>
      <p:sp>
        <p:nvSpPr>
          <p:cNvPr id="5" name="Text 3"/>
          <p:cNvSpPr txBox="1"/>
          <p:nvPr/>
        </p:nvSpPr>
        <p:spPr>
          <a:xfrm>
            <a:off x="457200" y="914400"/>
            <a:ext cx="8229600" cy="5394960"/>
          </a:xfrm>
          <a:prstGeom prst="rect">
            <a:avLst/>
          </a:prstGeom>
          <a:noFill/>
          <a:ln/>
        </p:spPr>
        <p:txBody>
          <a:bodyPr wrap="square" rtlCol="0" anchor="t"/>
          <a:lstStyle/>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  F. N. Khan, Q. Fan, C. Lu, A. P. T. Lau, “An optical communication’s perspective on machine learning and its applications,” J. Lightw. Technol., vol. 37, no. 2, pp. 493–516, 2019.</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[2]  A. Swami, B. M. Sadler, “Hierarchical digital modulation classification using cumulants,” IEEE Trans. Commun., vol. 48, no. 3, pp. 416–429, 2000.</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[3]  O. A. Dobre, A. Abdi, Y. Bar-Ness, W. Su, “Survey of automatic modulation classification techniques,” IET Commun., vol. 1, no. 2, pp. 137–156, 2007.</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[4]  D. Wang et al., “Intelligent constellation diagram analyzer using CNN-based deep learning,” Opt. Express, vol. 25, no. 15, pp. 17150–17166, 2017.</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[5]  F. N. Khan et al., “Modulation format identification in coherent receivers using deep machine learning,” IEEE Photon. Technol. Lett., vol. 28, no. 17, pp. 1886–1889, 2016.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[6]  T. J. O’Shea, J. Corgan, T. C. Clancy, “Convolutional radio modulation recognition networks,” EANN 2016, CCIS vol. 629, Springer, pp. 213–226.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[7]  Z. Ge, H. Jiang, Y. Guo, J. Zhou, “Accuracy analysis of feature-based AMC via deep neural network,” Sensors, vol. 21, no. 24, art. 8252, 2021.</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[8]  Z. Huang et al., “Modulation format identification based on signal constellation diagrams and SVM,” Photonics, vol. 9, no. 12, art. 927, 2022.</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[9]  X. Tian et al., “A survey on deep learning enabled AMC methods,” Signal Processing, vol. 242, art. 110444, 2026.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[10]  H. Yang, R. Sahay, “An uncertainty quantification framework for deep learning-based AMC,” arXiv:2503.04142, 2025.</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[11]  F. N. Khan et al., “Joint OSNR monitoring and MFI in digital coherent receivers using DNNs,” Opt. Express, vol. 25, no. 15, p. 17767, 2017.</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[12]  H. Xu et al., “Blind and low-complexity MFI using PCA of Stokes parameters for elastic optical networks,” Opt. Express, vol. 28, no. 14, p. 20249, 2020.</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[13]  J. Jiang et al., “Blind modulation format identification based on PCA and SVD,” Electronics, vol. 11, no. 4, art. 612, 2022.</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[14]  S. Zhang et al., “MFI in heterogeneous fiber-optic networks using ANNs and genetic algorithms,” Photonic Netw. Commun., vol. 32, no. 2, pp. 246–252, 2016.</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[15]  T. Wang, X. Liu, “A novel modulation format identification based on amplitude histogram space,” Front. Optoelectron., vol. 12, no. 2, pp. 190–196, 2019.</a:t>
            </a:r>
            <a:endParaRPr lang="en-US" sz="1050" dirty="0"/>
          </a:p>
          <a:p>
            <a:pPr indent="0" marL="0">
              <a:spcAft>
                <a:spcPts val="200"/>
              </a:spcAft>
              <a:buNone/>
            </a:pPr>
            <a:r>
              <a:rPr lang="en-US" sz="1050" dirty="0">
                <a:solidFill>
                  <a:srgbClr val="000000"/>
                </a:solidFill>
                <a:latin typeface="Times New Roman" pitchFamily="34" charset="0"/>
                <a:ea typeface="Times New Roman" pitchFamily="34" charset="-122"/>
                <a:cs typeface="Times New Roman" pitchFamily="34" charset="-120"/>
              </a:rPr>
              <a:t>[16]  M. Leblebici, A. Çalhan, M. Cicioğlu, “Deep learning-based modulation recognition with constellation diagram: a case study,” Phys. Commun., vol. 63, art. 102285, 2024.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BTP I MEMEC702 Mid Sem Evaluation</dc:title>
  <dc:subject>PptxGenJS Presentation</dc:subject>
  <dc:creator>Nitesh Kumar Yadav, Yash Mittal, Sajan</dc:creator>
  <cp:lastModifiedBy>Nitesh Kumar Yadav, Yash Mittal, Sajan</cp:lastModifiedBy>
  <cp:revision>1</cp:revision>
  <dcterms:created xsi:type="dcterms:W3CDTF">2026-09-24T01:04:22Z</dcterms:created>
  <dcterms:modified xsi:type="dcterms:W3CDTF">2026-09-24T01:04:22Z</dcterms:modified>
</cp:coreProperties>
</file>
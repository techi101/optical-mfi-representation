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NITESH - 10 s
Greet, give the title once, name the three of us and the supervisor. Do not read the slide.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NITESH - 15 s
One sentence: "I'll cover the problem and the literature, Yash takes the method, Sajan takes the results." Then advance. Do not read nine bullets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NITESH - 65 s
Fibre carries data as light. Vary amplitude AND phase and one pulse carries several bits - that pulse is a symbol, the allowed set is the modulation format, and plotted on the I-Q plane it is the constellation diagram. Point at the picture: five formats down, noise decreasing to the right. Then the problem: modern networks switch format with link conditions, and the receiver cannot demodulate until it knows which one arrived. MFI works it out from the signal itself. PAUSE on the picture - it does the teaching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NITESH - 60 s
Four groups, one line each. Classical work uses cumulants because Gaussian noise cancels at fourth order and above. Others swapped in different hand-crafted representations. Then CNNs on constellation images, reported as a large gain. Wireless has asked a similar question - say that out loud, do not hide it. Land hard on the last bullet: every optical comparison changes the model and the input together, so nobody can say which caused the gain. That sentence sets up the whole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YASH - 40 s
Read the first objective properly; skim the rest. The point of this slide is that we set out to ANSWER a question, not to build a classifier. Twenty seconds on bullet one, twenty on the other five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YASH - 65 s
We simulate the link - no public optical constellation dataset exists, and we need exactly controlled OSNR sweeps. Walk the signal chain quickly, then stop on validation: the fourth-order cumulant of a noiseless constellation is exact algebra, and our simulator reproduces it to within 0.004 for all five formats. That is the answer to 'how do you know your simulator is right?', so say it before they ask. Finish on the three representations coming from the SAME signal realisation - that is what makes the comparison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YASH - 70 s
This is the contribution slide. Spend the time. Walk the table out loud: across a row only the algorithm changes; down the deep-model column only the input changes. The MLP is the cell nobody fills - a trained deep network fed only the 15 features. Say why it settles the question either way: if it lands near the SVM, the representation matters; near the CNN, the model matters. Then the five classifiers and seven experiments in one breath.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SAJAN - 65 s
Let them read the chart for three seconds before you speak. Three very different algorithms on identical features sit within 1.83 points of each other. The CNN on the image gains 5.32 over the strongest of them - 2.9 times as much. If asked why 5.32 and not 5.65: we compare against the BEST baseline, the SVM, because that is the harder test. Close on the MLP finishing below the SVM - depth on features bought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SAJAN - 70 s
Two results here. First the margin: the CNN hits 95% at 7 dB where the SVM needs 14 - quote the margin, not the percentage, because it converts into reach or amplifier count. Then robustness, the strongest result: trained clean and tested severe, the CNN holds 89.8% while the SVM falls to 21.8% against a 20% chance level. Give the mechanism, not just the number - cumulants are statistics of an ASSUMED signal model. Then confidence: at a 90% gate the CNN still answers 86.9% of inputs, the SVM answers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SAJAN - 50 s
Deliver this confidently, not apologetically. I/Q imbalance destroys the cumulant features. But dispersion inverts our own headline: at 150 ps/nm the SVM scores 80.1% and the CNN 54.9%. We report it because it bounds the claim. If asked why it happens, say honestly that we have a hypothesis we have not tested - dispersion smears the local image structure the CNN relies on, while cumulants are computed over the whole capture. Do not invent 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NITESH - 45 s
Six lines; read the first and the last properly. The representation is the dominant design variable; the gap widens under mismatch; it also decides whether a confidence-gated monitor stays usable at all. End on the limitations line - stating them yourself is worth more than being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NITESH - 25 s
Manuscript is complete and compiles clean; targeting QPAIN 2027, deadline 30 November. Be straight that it is not submitted yet and needs a trim to the page limit. Mention the code is public and every number regenerates from a fixed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- 5 s
Do not read these. Leave the slide up and say 'happy to take questions.' Keeping it on screen during Q&amp;A lets you point at a reference if challenged.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274320" y="201168"/>
            <a:ext cx="8595360" cy="365760"/>
          </a:xfrm>
          <a:prstGeom prst="rect">
            <a:avLst/>
          </a:prstGeom>
          <a:noFill/>
          <a:ln/>
        </p:spPr>
        <p:txBody>
          <a:bodyPr wrap="square" rtlCol="0" anchor="ctr"/>
          <a:lstStyle/>
          <a:p>
            <a:pPr algn="ctr" indent="0" marL="0">
              <a:buNone/>
            </a:pPr>
            <a:r>
              <a:rPr lang="en-US" sz="1900" b="1" dirty="0">
                <a:solidFill>
                  <a:srgbClr val="000000"/>
                </a:solidFill>
                <a:latin typeface="Times New Roman" pitchFamily="34" charset="0"/>
                <a:ea typeface="Times New Roman" pitchFamily="34" charset="-122"/>
                <a:cs typeface="Times New Roman" pitchFamily="34" charset="-120"/>
              </a:rPr>
              <a:t>BTP I MEMEC702 MID SEM EVALUATION</a:t>
            </a:r>
            <a:endParaRPr lang="en-US" sz="1900" dirty="0"/>
          </a:p>
        </p:txBody>
      </p:sp>
      <p:pic>
        <p:nvPicPr>
          <p:cNvPr id="3" name="Image 0" descr="C:\Users\Lenovo\AppData\Local\Temp\claude\C--Users-Lenovo\cf277e2f-4c0a-439c-9171-7ad71876162f\scratchpad\deck\logo-000.png">    </p:cNvPr>
          <p:cNvPicPr>
            <a:picLocks noChangeAspect="1"/>
          </p:cNvPicPr>
          <p:nvPr/>
        </p:nvPicPr>
        <p:blipFill>
          <a:blip r:embed="rId1"/>
          <a:stretch>
            <a:fillRect/>
          </a:stretch>
        </p:blipFill>
        <p:spPr>
          <a:xfrm>
            <a:off x="3611880" y="658368"/>
            <a:ext cx="1920240" cy="1920240"/>
          </a:xfrm>
          <a:prstGeom prst="rect">
            <a:avLst/>
          </a:prstGeom>
        </p:spPr>
      </p:pic>
      <p:sp>
        <p:nvSpPr>
          <p:cNvPr id="4" name="Text 1"/>
          <p:cNvSpPr txBox="1"/>
          <p:nvPr/>
        </p:nvSpPr>
        <p:spPr>
          <a:xfrm>
            <a:off x="365760" y="2743200"/>
            <a:ext cx="8412480" cy="868680"/>
          </a:xfrm>
          <a:prstGeom prst="rect">
            <a:avLst/>
          </a:prstGeom>
          <a:noFill/>
          <a:ln/>
        </p:spPr>
        <p:txBody>
          <a:bodyPr wrap="square" rtlCol="0" anchor="ctr"/>
          <a:lstStyle/>
          <a:p>
            <a:pPr algn="ctr" indent="0" marL="0">
              <a:lnSpc>
                <a:spcPct val="115000"/>
              </a:lnSpc>
              <a:buNone/>
            </a:pPr>
            <a:r>
              <a:rPr lang="en-US" sz="2100" dirty="0">
                <a:solidFill>
                  <a:srgbClr val="000000"/>
                </a:solidFill>
                <a:latin typeface="Times New Roman" pitchFamily="34" charset="0"/>
                <a:ea typeface="Times New Roman" pitchFamily="34" charset="-122"/>
                <a:cs typeface="Times New Roman" pitchFamily="34" charset="-120"/>
              </a:rPr>
              <a:t>INPUT REPRESENTATION DOMINATES MODEL CHOICE IN</a:t>
            </a:r>
            <a:endParaRPr lang="en-US" sz="2100" dirty="0"/>
          </a:p>
          <a:p>
            <a:pPr algn="ctr" indent="0" marL="0">
              <a:lnSpc>
                <a:spcPct val="115000"/>
              </a:lnSpc>
              <a:buNone/>
            </a:pPr>
            <a:r>
              <a:rPr lang="en-US" sz="2100" dirty="0">
                <a:solidFill>
                  <a:srgbClr val="000000"/>
                </a:solidFill>
                <a:latin typeface="Times New Roman" pitchFamily="34" charset="0"/>
                <a:ea typeface="Times New Roman" pitchFamily="34" charset="-122"/>
                <a:cs typeface="Times New Roman" pitchFamily="34" charset="-120"/>
              </a:rPr>
              <a:t>MACHINE-LEARNING MODULATION FORMAT IDENTIFICATION</a:t>
            </a:r>
            <a:endParaRPr lang="en-US" sz="2100" dirty="0"/>
          </a:p>
        </p:txBody>
      </p:sp>
      <p:sp>
        <p:nvSpPr>
          <p:cNvPr id="5" name="Text 2"/>
          <p:cNvSpPr txBox="1"/>
          <p:nvPr/>
        </p:nvSpPr>
        <p:spPr>
          <a:xfrm>
            <a:off x="1965960" y="3767328"/>
            <a:ext cx="2194560" cy="292608"/>
          </a:xfrm>
          <a:prstGeom prst="rect">
            <a:avLst/>
          </a:prstGeom>
          <a:noFill/>
          <a:ln/>
        </p:spPr>
        <p:txBody>
          <a:bodyPr wrap="square" rtlCol="0" anchor="ctr"/>
          <a:lstStyle/>
          <a:p>
            <a:pPr algn="ctr" indent="0" marL="0">
              <a:buNone/>
            </a:pPr>
            <a:r>
              <a:rPr lang="en-US" sz="1600" dirty="0">
                <a:solidFill>
                  <a:srgbClr val="000000"/>
                </a:solidFill>
                <a:latin typeface="Times New Roman" pitchFamily="34" charset="0"/>
                <a:ea typeface="Times New Roman" pitchFamily="34" charset="-122"/>
                <a:cs typeface="Times New Roman" pitchFamily="34" charset="-120"/>
              </a:rPr>
              <a:t>2023UEA7232</a:t>
            </a:r>
            <a:endParaRPr lang="en-US" sz="1600" dirty="0"/>
          </a:p>
        </p:txBody>
      </p:sp>
      <p:sp>
        <p:nvSpPr>
          <p:cNvPr id="6" name="Text 3"/>
          <p:cNvSpPr txBox="1"/>
          <p:nvPr/>
        </p:nvSpPr>
        <p:spPr>
          <a:xfrm>
            <a:off x="4434840" y="3767328"/>
            <a:ext cx="2926080" cy="292608"/>
          </a:xfrm>
          <a:prstGeom prst="rect">
            <a:avLst/>
          </a:prstGeom>
          <a:noFill/>
          <a:ln/>
        </p:spPr>
        <p:txBody>
          <a:bodyPr wrap="square" rtlCol="0" anchor="ctr"/>
          <a:lstStyle/>
          <a:p>
            <a:pPr algn="ctr" indent="0" marL="0">
              <a:buNone/>
            </a:pPr>
            <a:r>
              <a:rPr lang="en-US" sz="1600" dirty="0">
                <a:solidFill>
                  <a:srgbClr val="000000"/>
                </a:solidFill>
                <a:latin typeface="Times New Roman" pitchFamily="34" charset="0"/>
                <a:ea typeface="Times New Roman" pitchFamily="34" charset="-122"/>
                <a:cs typeface="Times New Roman" pitchFamily="34" charset="-120"/>
              </a:rPr>
              <a:t>Nitesh Kumar Yadav</a:t>
            </a:r>
            <a:endParaRPr lang="en-US" sz="1600" dirty="0"/>
          </a:p>
        </p:txBody>
      </p:sp>
      <p:sp>
        <p:nvSpPr>
          <p:cNvPr id="7" name="Text 4"/>
          <p:cNvSpPr txBox="1"/>
          <p:nvPr/>
        </p:nvSpPr>
        <p:spPr>
          <a:xfrm>
            <a:off x="1965960" y="4078224"/>
            <a:ext cx="2194560" cy="292608"/>
          </a:xfrm>
          <a:prstGeom prst="rect">
            <a:avLst/>
          </a:prstGeom>
          <a:noFill/>
          <a:ln/>
        </p:spPr>
        <p:txBody>
          <a:bodyPr wrap="square" rtlCol="0" anchor="ctr"/>
          <a:lstStyle/>
          <a:p>
            <a:pPr algn="ctr" indent="0" marL="0">
              <a:buNone/>
            </a:pPr>
            <a:r>
              <a:rPr lang="en-US" sz="1600" dirty="0">
                <a:solidFill>
                  <a:srgbClr val="000000"/>
                </a:solidFill>
                <a:latin typeface="Times New Roman" pitchFamily="34" charset="0"/>
                <a:ea typeface="Times New Roman" pitchFamily="34" charset="-122"/>
                <a:cs typeface="Times New Roman" pitchFamily="34" charset="-120"/>
              </a:rPr>
              <a:t>2023UEA7225</a:t>
            </a:r>
            <a:endParaRPr lang="en-US" sz="1600" dirty="0"/>
          </a:p>
        </p:txBody>
      </p:sp>
      <p:sp>
        <p:nvSpPr>
          <p:cNvPr id="8" name="Text 5"/>
          <p:cNvSpPr txBox="1"/>
          <p:nvPr/>
        </p:nvSpPr>
        <p:spPr>
          <a:xfrm>
            <a:off x="4434840" y="4078224"/>
            <a:ext cx="2926080" cy="292608"/>
          </a:xfrm>
          <a:prstGeom prst="rect">
            <a:avLst/>
          </a:prstGeom>
          <a:noFill/>
          <a:ln/>
        </p:spPr>
        <p:txBody>
          <a:bodyPr wrap="square" rtlCol="0" anchor="ctr"/>
          <a:lstStyle/>
          <a:p>
            <a:pPr algn="ctr" indent="0" marL="0">
              <a:buNone/>
            </a:pPr>
            <a:r>
              <a:rPr lang="en-US" sz="1600" dirty="0">
                <a:solidFill>
                  <a:srgbClr val="000000"/>
                </a:solidFill>
                <a:latin typeface="Times New Roman" pitchFamily="34" charset="0"/>
                <a:ea typeface="Times New Roman" pitchFamily="34" charset="-122"/>
                <a:cs typeface="Times New Roman" pitchFamily="34" charset="-120"/>
              </a:rPr>
              <a:t>Yash Mittal</a:t>
            </a:r>
            <a:endParaRPr lang="en-US" sz="1600" dirty="0"/>
          </a:p>
        </p:txBody>
      </p:sp>
      <p:sp>
        <p:nvSpPr>
          <p:cNvPr id="9" name="Text 6"/>
          <p:cNvSpPr txBox="1"/>
          <p:nvPr/>
        </p:nvSpPr>
        <p:spPr>
          <a:xfrm>
            <a:off x="1965960" y="4389120"/>
            <a:ext cx="2194560" cy="292608"/>
          </a:xfrm>
          <a:prstGeom prst="rect">
            <a:avLst/>
          </a:prstGeom>
          <a:noFill/>
          <a:ln/>
        </p:spPr>
        <p:txBody>
          <a:bodyPr wrap="square" rtlCol="0" anchor="ctr"/>
          <a:lstStyle/>
          <a:p>
            <a:pPr algn="ctr" indent="0" marL="0">
              <a:buNone/>
            </a:pPr>
            <a:r>
              <a:rPr lang="en-US" sz="1600" dirty="0">
                <a:solidFill>
                  <a:srgbClr val="000000"/>
                </a:solidFill>
                <a:latin typeface="Times New Roman" pitchFamily="34" charset="0"/>
                <a:ea typeface="Times New Roman" pitchFamily="34" charset="-122"/>
                <a:cs typeface="Times New Roman" pitchFamily="34" charset="-120"/>
              </a:rPr>
              <a:t>2023UEA6603</a:t>
            </a:r>
            <a:endParaRPr lang="en-US" sz="1600" dirty="0"/>
          </a:p>
        </p:txBody>
      </p:sp>
      <p:sp>
        <p:nvSpPr>
          <p:cNvPr id="10" name="Text 7"/>
          <p:cNvSpPr txBox="1"/>
          <p:nvPr/>
        </p:nvSpPr>
        <p:spPr>
          <a:xfrm>
            <a:off x="4434840" y="4389120"/>
            <a:ext cx="2926080" cy="292608"/>
          </a:xfrm>
          <a:prstGeom prst="rect">
            <a:avLst/>
          </a:prstGeom>
          <a:noFill/>
          <a:ln/>
        </p:spPr>
        <p:txBody>
          <a:bodyPr wrap="square" rtlCol="0" anchor="ctr"/>
          <a:lstStyle/>
          <a:p>
            <a:pPr algn="ctr" indent="0" marL="0">
              <a:buNone/>
            </a:pPr>
            <a:r>
              <a:rPr lang="en-US" sz="1600" dirty="0">
                <a:solidFill>
                  <a:srgbClr val="000000"/>
                </a:solidFill>
                <a:latin typeface="Times New Roman" pitchFamily="34" charset="0"/>
                <a:ea typeface="Times New Roman" pitchFamily="34" charset="-122"/>
                <a:cs typeface="Times New Roman" pitchFamily="34" charset="-120"/>
              </a:rPr>
              <a:t>Sajan</a:t>
            </a:r>
            <a:endParaRPr lang="en-US" sz="1600" dirty="0"/>
          </a:p>
        </p:txBody>
      </p:sp>
      <p:sp>
        <p:nvSpPr>
          <p:cNvPr id="11" name="Text 8"/>
          <p:cNvSpPr txBox="1"/>
          <p:nvPr/>
        </p:nvSpPr>
        <p:spPr>
          <a:xfrm>
            <a:off x="548640" y="4892040"/>
            <a:ext cx="8046720" cy="1554480"/>
          </a:xfrm>
          <a:prstGeom prst="rect">
            <a:avLst/>
          </a:prstGeom>
          <a:noFill/>
          <a:ln/>
        </p:spPr>
        <p:txBody>
          <a:bodyPr wrap="square" rtlCol="0" anchor="ctr"/>
          <a:lstStyle/>
          <a:p>
            <a:pPr algn="ctr" indent="0" marL="0">
              <a:lnSpc>
                <a:spcPct val="112000"/>
              </a:lnSpc>
              <a:buNone/>
            </a:pPr>
            <a:r>
              <a:rPr lang="en-US" sz="1600" dirty="0">
                <a:solidFill>
                  <a:srgbClr val="000000"/>
                </a:solidFill>
                <a:latin typeface="Times New Roman" pitchFamily="34" charset="0"/>
                <a:ea typeface="Times New Roman" pitchFamily="34" charset="-122"/>
                <a:cs typeface="Times New Roman" pitchFamily="34" charset="-120"/>
              </a:rPr>
              <a:t>Under Supervision of</a:t>
            </a:r>
            <a:endParaRPr lang="en-US" sz="1600" dirty="0"/>
          </a:p>
          <a:p>
            <a:pPr algn="ctr" indent="0" marL="0">
              <a:lnSpc>
                <a:spcPct val="112000"/>
              </a:lnSpc>
              <a:buNone/>
            </a:pPr>
            <a:r>
              <a:rPr lang="en-US" sz="1600" dirty="0">
                <a:solidFill>
                  <a:srgbClr val="000000"/>
                </a:solidFill>
                <a:latin typeface="Times New Roman" pitchFamily="34" charset="0"/>
                <a:ea typeface="Times New Roman" pitchFamily="34" charset="-122"/>
                <a:cs typeface="Times New Roman" pitchFamily="34" charset="-120"/>
              </a:rPr>
              <a:t>Dr. Manisha Khulbe</a:t>
            </a:r>
            <a:endParaRPr lang="en-US" sz="1600" dirty="0"/>
          </a:p>
          <a:p>
            <a:pPr algn="ctr" indent="0" marL="0">
              <a:lnSpc>
                <a:spcPct val="112000"/>
              </a:lnSpc>
              <a:buNone/>
            </a:pPr>
            <a:r>
              <a:rPr lang="en-US" sz="1600" dirty="0">
                <a:solidFill>
                  <a:srgbClr val="000000"/>
                </a:solidFill>
                <a:latin typeface="Times New Roman" pitchFamily="34" charset="0"/>
                <a:ea typeface="Times New Roman" pitchFamily="34" charset="-122"/>
                <a:cs typeface="Times New Roman" pitchFamily="34" charset="-120"/>
              </a:rPr>
              <a:t>Department of Electronics and Communication Engineering</a:t>
            </a:r>
            <a:endParaRPr lang="en-US" sz="1600" dirty="0"/>
          </a:p>
          <a:p>
            <a:pPr algn="ctr" indent="0" marL="0">
              <a:lnSpc>
                <a:spcPct val="112000"/>
              </a:lnSpc>
              <a:buNone/>
            </a:pPr>
            <a:r>
              <a:rPr lang="en-US" sz="1600" dirty="0">
                <a:solidFill>
                  <a:srgbClr val="000000"/>
                </a:solidFill>
                <a:latin typeface="Times New Roman" pitchFamily="34" charset="0"/>
                <a:ea typeface="Times New Roman" pitchFamily="34" charset="-122"/>
                <a:cs typeface="Times New Roman" pitchFamily="34" charset="-120"/>
              </a:rPr>
              <a:t>Netaji Subhas University of Technology, East Campus</a:t>
            </a:r>
            <a:endParaRPr lang="en-US" sz="1600" dirty="0"/>
          </a:p>
          <a:p>
            <a:pPr algn="ctr" indent="0" marL="0">
              <a:lnSpc>
                <a:spcPct val="112000"/>
              </a:lnSpc>
              <a:buNone/>
            </a:pPr>
            <a:r>
              <a:rPr lang="en-US" sz="1600" dirty="0">
                <a:solidFill>
                  <a:srgbClr val="000000"/>
                </a:solidFill>
                <a:latin typeface="Times New Roman" pitchFamily="34" charset="0"/>
                <a:ea typeface="Times New Roman" pitchFamily="34" charset="-122"/>
                <a:cs typeface="Times New Roman" pitchFamily="34" charset="-120"/>
              </a:rPr>
              <a:t>Geeta Colony, New Delhi - 110031</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274320" y="164592"/>
            <a:ext cx="8595360" cy="658368"/>
          </a:xfrm>
          <a:prstGeom prst="rect">
            <a:avLst/>
          </a:prstGeom>
          <a:noFill/>
          <a:ln/>
        </p:spPr>
        <p:txBody>
          <a:bodyPr wrap="square" rtlCol="0" anchor="ctr"/>
          <a:lstStyle/>
          <a:p>
            <a:pPr algn="ctr" indent="0" marL="0">
              <a:buNone/>
            </a:pPr>
            <a:r>
              <a:rPr lang="en-US" sz="3200" b="1" dirty="0">
                <a:solidFill>
                  <a:srgbClr val="0070C0"/>
                </a:solidFill>
                <a:latin typeface="Times New Roman" pitchFamily="34" charset="0"/>
                <a:ea typeface="Times New Roman" pitchFamily="34" charset="-122"/>
                <a:cs typeface="Times New Roman" pitchFamily="34" charset="-120"/>
              </a:rPr>
              <a:t>CONTENT</a:t>
            </a:r>
            <a:endParaRPr lang="en-US" sz="3200" dirty="0"/>
          </a:p>
        </p:txBody>
      </p:sp>
      <p:sp>
        <p:nvSpPr>
          <p:cNvPr id="3" name="Text 1"/>
          <p:cNvSpPr txBox="1"/>
          <p:nvPr/>
        </p:nvSpPr>
        <p:spPr>
          <a:xfrm>
            <a:off x="2743200" y="6446520"/>
            <a:ext cx="3657600" cy="274320"/>
          </a:xfrm>
          <a:prstGeom prst="rect">
            <a:avLst/>
          </a:prstGeom>
          <a:noFill/>
          <a:ln/>
        </p:spPr>
        <p:txBody>
          <a:bodyPr wrap="square" rtlCol="0" anchor="ctr"/>
          <a:lstStyle/>
          <a:p>
            <a:pPr algn="ctr" indent="0" marL="0">
              <a:buNone/>
            </a:pPr>
            <a:r>
              <a:rPr lang="en-US" sz="1100" dirty="0">
                <a:solidFill>
                  <a:srgbClr val="808080"/>
                </a:solidFill>
                <a:latin typeface="Arial" pitchFamily="34" charset="0"/>
                <a:ea typeface="Arial" pitchFamily="34" charset="-122"/>
                <a:cs typeface="Arial" pitchFamily="34" charset="-120"/>
              </a:rPr>
              <a:t>MEMEC702 MSE</a:t>
            </a:r>
            <a:endParaRPr lang="en-US" sz="1100" dirty="0"/>
          </a:p>
        </p:txBody>
      </p:sp>
      <p:sp>
        <p:nvSpPr>
          <p:cNvPr id="4" name="Text 2"/>
          <p:cNvSpPr txBox="1"/>
          <p:nvPr/>
        </p:nvSpPr>
        <p:spPr>
          <a:xfrm>
            <a:off x="8229600" y="6446520"/>
            <a:ext cx="640080" cy="274320"/>
          </a:xfrm>
          <a:prstGeom prst="rect">
            <a:avLst/>
          </a:prstGeom>
          <a:noFill/>
          <a:ln/>
        </p:spPr>
        <p:txBody>
          <a:bodyPr wrap="square" rtlCol="0" anchor="ctr"/>
          <a:lstStyle/>
          <a:p>
            <a:pPr algn="r" indent="0" marL="0">
              <a:buNone/>
            </a:pPr>
            <a:r>
              <a:rPr lang="en-US" sz="1100" dirty="0">
                <a:solidFill>
                  <a:srgbClr val="808080"/>
                </a:solidFill>
                <a:latin typeface="Arial" pitchFamily="34" charset="0"/>
                <a:ea typeface="Arial" pitchFamily="34" charset="-122"/>
                <a:cs typeface="Arial" pitchFamily="34" charset="-120"/>
              </a:rPr>
              <a:t>1</a:t>
            </a:r>
            <a:endParaRPr lang="en-US" sz="1100" dirty="0"/>
          </a:p>
        </p:txBody>
      </p:sp>
      <p:sp>
        <p:nvSpPr>
          <p:cNvPr id="5" name="Text 3"/>
          <p:cNvSpPr txBox="1"/>
          <p:nvPr/>
        </p:nvSpPr>
        <p:spPr>
          <a:xfrm>
            <a:off x="1280160" y="1143000"/>
            <a:ext cx="6949440" cy="5120640"/>
          </a:xfrm>
          <a:prstGeom prst="rect">
            <a:avLst/>
          </a:prstGeom>
          <a:noFill/>
          <a:ln/>
        </p:spPr>
        <p:txBody>
          <a:bodyPr wrap="square" rtlCol="0" anchor="t"/>
          <a:lstStyle/>
          <a:p>
            <a:pPr marL="342900" indent="-342900">
              <a:spcAft>
                <a:spcPts val="1000"/>
              </a:spcAft>
              <a:buSzPct val="100000"/>
              <a:buChar char="▪"/>
            </a:pPr>
            <a:r>
              <a:rPr lang="en-US" sz="2400" b="1" dirty="0">
                <a:solidFill>
                  <a:srgbClr val="0070C0"/>
                </a:solidFill>
                <a:latin typeface="Times New Roman" pitchFamily="34" charset="0"/>
                <a:ea typeface="Times New Roman" pitchFamily="34" charset="-122"/>
                <a:cs typeface="Times New Roman" pitchFamily="34" charset="-120"/>
              </a:rPr>
              <a:t>Introduction</a:t>
            </a:r>
            <a:endParaRPr lang="en-US" sz="2400" dirty="0"/>
          </a:p>
          <a:p>
            <a:pPr marL="342900" indent="-342900">
              <a:spcAft>
                <a:spcPts val="1000"/>
              </a:spcAft>
              <a:buSzPct val="100000"/>
              <a:buChar char="▪"/>
            </a:pPr>
            <a:r>
              <a:rPr lang="en-US" sz="2400" b="1" dirty="0">
                <a:solidFill>
                  <a:srgbClr val="0070C0"/>
                </a:solidFill>
                <a:latin typeface="Times New Roman" pitchFamily="34" charset="0"/>
                <a:ea typeface="Times New Roman" pitchFamily="34" charset="-122"/>
                <a:cs typeface="Times New Roman" pitchFamily="34" charset="-120"/>
              </a:rPr>
              <a:t>Literature Review</a:t>
            </a:r>
            <a:endParaRPr lang="en-US" sz="2400" dirty="0"/>
          </a:p>
          <a:p>
            <a:pPr marL="342900" indent="-342900">
              <a:spcAft>
                <a:spcPts val="1000"/>
              </a:spcAft>
              <a:buSzPct val="100000"/>
              <a:buChar char="▪"/>
            </a:pPr>
            <a:r>
              <a:rPr lang="en-US" sz="2400" b="1" dirty="0">
                <a:solidFill>
                  <a:srgbClr val="0070C0"/>
                </a:solidFill>
                <a:latin typeface="Times New Roman" pitchFamily="34" charset="0"/>
                <a:ea typeface="Times New Roman" pitchFamily="34" charset="-122"/>
                <a:cs typeface="Times New Roman" pitchFamily="34" charset="-120"/>
              </a:rPr>
              <a:t>Objectives</a:t>
            </a:r>
            <a:endParaRPr lang="en-US" sz="2400" dirty="0"/>
          </a:p>
          <a:p>
            <a:pPr marL="342900" indent="-342900">
              <a:spcAft>
                <a:spcPts val="1000"/>
              </a:spcAft>
              <a:buSzPct val="100000"/>
              <a:buChar char="▪"/>
            </a:pPr>
            <a:r>
              <a:rPr lang="en-US" sz="2400" b="1" dirty="0">
                <a:solidFill>
                  <a:srgbClr val="0070C0"/>
                </a:solidFill>
                <a:latin typeface="Times New Roman" pitchFamily="34" charset="0"/>
                <a:ea typeface="Times New Roman" pitchFamily="34" charset="-122"/>
                <a:cs typeface="Times New Roman" pitchFamily="34" charset="-120"/>
              </a:rPr>
              <a:t>Methods/Materials</a:t>
            </a:r>
            <a:endParaRPr lang="en-US" sz="2400" dirty="0"/>
          </a:p>
          <a:p>
            <a:pPr marL="342900" indent="-342900">
              <a:spcAft>
                <a:spcPts val="1000"/>
              </a:spcAft>
              <a:buSzPct val="100000"/>
              <a:buChar char="▪"/>
            </a:pPr>
            <a:r>
              <a:rPr lang="en-US" sz="2400" b="1" dirty="0">
                <a:solidFill>
                  <a:srgbClr val="0070C0"/>
                </a:solidFill>
                <a:latin typeface="Times New Roman" pitchFamily="34" charset="0"/>
                <a:ea typeface="Times New Roman" pitchFamily="34" charset="-122"/>
                <a:cs typeface="Times New Roman" pitchFamily="34" charset="-120"/>
              </a:rPr>
              <a:t>Experimentation/Modeling</a:t>
            </a:r>
            <a:endParaRPr lang="en-US" sz="2400" dirty="0"/>
          </a:p>
          <a:p>
            <a:pPr marL="342900" indent="-342900">
              <a:spcAft>
                <a:spcPts val="1000"/>
              </a:spcAft>
              <a:buSzPct val="100000"/>
              <a:buChar char="▪"/>
            </a:pPr>
            <a:r>
              <a:rPr lang="en-US" sz="2400" b="1" dirty="0">
                <a:solidFill>
                  <a:srgbClr val="0070C0"/>
                </a:solidFill>
                <a:latin typeface="Times New Roman" pitchFamily="34" charset="0"/>
                <a:ea typeface="Times New Roman" pitchFamily="34" charset="-122"/>
                <a:cs typeface="Times New Roman" pitchFamily="34" charset="-120"/>
              </a:rPr>
              <a:t>Results</a:t>
            </a:r>
            <a:endParaRPr lang="en-US" sz="2400" dirty="0"/>
          </a:p>
          <a:p>
            <a:pPr marL="342900" indent="-342900">
              <a:spcAft>
                <a:spcPts val="1000"/>
              </a:spcAft>
              <a:buSzPct val="100000"/>
              <a:buChar char="▪"/>
            </a:pPr>
            <a:r>
              <a:rPr lang="en-US" sz="2400" b="1" dirty="0">
                <a:solidFill>
                  <a:srgbClr val="0070C0"/>
                </a:solidFill>
                <a:latin typeface="Times New Roman" pitchFamily="34" charset="0"/>
                <a:ea typeface="Times New Roman" pitchFamily="34" charset="-122"/>
                <a:cs typeface="Times New Roman" pitchFamily="34" charset="-120"/>
              </a:rPr>
              <a:t>Conclusions</a:t>
            </a:r>
            <a:endParaRPr lang="en-US" sz="2400" dirty="0"/>
          </a:p>
          <a:p>
            <a:pPr marL="342900" indent="-342900">
              <a:spcAft>
                <a:spcPts val="1000"/>
              </a:spcAft>
              <a:buSzPct val="100000"/>
              <a:buChar char="▪"/>
            </a:pPr>
            <a:r>
              <a:rPr lang="en-US" sz="2400" b="1" dirty="0">
                <a:solidFill>
                  <a:srgbClr val="0070C0"/>
                </a:solidFill>
                <a:latin typeface="Times New Roman" pitchFamily="34" charset="0"/>
                <a:ea typeface="Times New Roman" pitchFamily="34" charset="-122"/>
                <a:cs typeface="Times New Roman" pitchFamily="34" charset="-120"/>
              </a:rPr>
              <a:t>Publication (If any)</a:t>
            </a:r>
            <a:endParaRPr lang="en-US" sz="2400" dirty="0"/>
          </a:p>
          <a:p>
            <a:pPr marL="342900" indent="-342900">
              <a:spcAft>
                <a:spcPts val="1000"/>
              </a:spcAft>
              <a:buSzPct val="100000"/>
              <a:buChar char="▪"/>
            </a:pPr>
            <a:r>
              <a:rPr lang="en-US" sz="2400" b="1" dirty="0">
                <a:solidFill>
                  <a:srgbClr val="0070C0"/>
                </a:solidFill>
                <a:latin typeface="Times New Roman" pitchFamily="34" charset="0"/>
                <a:ea typeface="Times New Roman" pitchFamily="34" charset="-122"/>
                <a:cs typeface="Times New Roman" pitchFamily="34" charset="-120"/>
              </a:rPr>
              <a:t>References</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274320" y="164592"/>
            <a:ext cx="8595360" cy="658368"/>
          </a:xfrm>
          <a:prstGeom prst="rect">
            <a:avLst/>
          </a:prstGeom>
          <a:noFill/>
          <a:ln/>
        </p:spPr>
        <p:txBody>
          <a:bodyPr wrap="square" rtlCol="0" anchor="ctr"/>
          <a:lstStyle/>
          <a:p>
            <a:pPr algn="ctr" indent="0" marL="0">
              <a:buNone/>
            </a:pPr>
            <a:r>
              <a:rPr lang="en-US" sz="3200" b="1" dirty="0">
                <a:solidFill>
                  <a:srgbClr val="0070C0"/>
                </a:solidFill>
                <a:latin typeface="Times New Roman" pitchFamily="34" charset="0"/>
                <a:ea typeface="Times New Roman" pitchFamily="34" charset="-122"/>
                <a:cs typeface="Times New Roman" pitchFamily="34" charset="-120"/>
              </a:rPr>
              <a:t>INTRODUCTION</a:t>
            </a:r>
            <a:endParaRPr lang="en-US" sz="3200" dirty="0"/>
          </a:p>
        </p:txBody>
      </p:sp>
      <p:sp>
        <p:nvSpPr>
          <p:cNvPr id="3" name="Text 1"/>
          <p:cNvSpPr txBox="1"/>
          <p:nvPr/>
        </p:nvSpPr>
        <p:spPr>
          <a:xfrm>
            <a:off x="2743200" y="6446520"/>
            <a:ext cx="3657600" cy="274320"/>
          </a:xfrm>
          <a:prstGeom prst="rect">
            <a:avLst/>
          </a:prstGeom>
          <a:noFill/>
          <a:ln/>
        </p:spPr>
        <p:txBody>
          <a:bodyPr wrap="square" rtlCol="0" anchor="ctr"/>
          <a:lstStyle/>
          <a:p>
            <a:pPr algn="ctr" indent="0" marL="0">
              <a:buNone/>
            </a:pPr>
            <a:r>
              <a:rPr lang="en-US" sz="1100" dirty="0">
                <a:solidFill>
                  <a:srgbClr val="808080"/>
                </a:solidFill>
                <a:latin typeface="Arial" pitchFamily="34" charset="0"/>
                <a:ea typeface="Arial" pitchFamily="34" charset="-122"/>
                <a:cs typeface="Arial" pitchFamily="34" charset="-120"/>
              </a:rPr>
              <a:t>MEMEC702 MSE</a:t>
            </a:r>
            <a:endParaRPr lang="en-US" sz="1100" dirty="0"/>
          </a:p>
        </p:txBody>
      </p:sp>
      <p:sp>
        <p:nvSpPr>
          <p:cNvPr id="4" name="Text 2"/>
          <p:cNvSpPr txBox="1"/>
          <p:nvPr/>
        </p:nvSpPr>
        <p:spPr>
          <a:xfrm>
            <a:off x="8229600" y="6446520"/>
            <a:ext cx="640080" cy="274320"/>
          </a:xfrm>
          <a:prstGeom prst="rect">
            <a:avLst/>
          </a:prstGeom>
          <a:noFill/>
          <a:ln/>
        </p:spPr>
        <p:txBody>
          <a:bodyPr wrap="square" rtlCol="0" anchor="ctr"/>
          <a:lstStyle/>
          <a:p>
            <a:pPr algn="r" indent="0" marL="0">
              <a:buNone/>
            </a:pPr>
            <a:r>
              <a:rPr lang="en-US" sz="1100" dirty="0">
                <a:solidFill>
                  <a:srgbClr val="808080"/>
                </a:solidFill>
                <a:latin typeface="Arial" pitchFamily="34" charset="0"/>
                <a:ea typeface="Arial" pitchFamily="34" charset="-122"/>
                <a:cs typeface="Arial" pitchFamily="34" charset="-120"/>
              </a:rPr>
              <a:t>2</a:t>
            </a:r>
            <a:endParaRPr lang="en-US" sz="1100" dirty="0"/>
          </a:p>
        </p:txBody>
      </p:sp>
      <p:sp>
        <p:nvSpPr>
          <p:cNvPr id="5" name="Text 3"/>
          <p:cNvSpPr txBox="1"/>
          <p:nvPr/>
        </p:nvSpPr>
        <p:spPr>
          <a:xfrm>
            <a:off x="457200" y="1051560"/>
            <a:ext cx="5029200" cy="4846320"/>
          </a:xfrm>
          <a:prstGeom prst="rect">
            <a:avLst/>
          </a:prstGeom>
          <a:noFill/>
          <a:ln/>
        </p:spPr>
        <p:txBody>
          <a:bodyPr wrap="square" rtlCol="0" anchor="t"/>
          <a:lstStyle/>
          <a:p>
            <a:pPr marL="342900" indent="-342900">
              <a:spcAft>
                <a:spcPts val="11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Optical fibre carries data as light. Varying both amplitude and phase lets one pulse (a symbol) carry several bits.</a:t>
            </a:r>
            <a:endParaRPr lang="en-US" sz="1550" dirty="0"/>
          </a:p>
          <a:p>
            <a:pPr marL="342900" indent="-342900">
              <a:spcAft>
                <a:spcPts val="11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The set of allowed (amplitude, phase) points is the modulation format; plotted on the I–Q plane it forms the constellation diagram.</a:t>
            </a:r>
            <a:endParaRPr lang="en-US" sz="1550" dirty="0"/>
          </a:p>
          <a:p>
            <a:pPr marL="342900" indent="-342900">
              <a:spcAft>
                <a:spcPts val="11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Elastic optical networks switch format with link conditions — 64-QAM on a short clean link, QPSK on a long noisy one.</a:t>
            </a:r>
            <a:endParaRPr lang="en-US" sz="1550" dirty="0"/>
          </a:p>
          <a:p>
            <a:pPr marL="342900" indent="-342900">
              <a:spcAft>
                <a:spcPts val="11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The receiver cannot demodulate until it knows which format arrived. Traditionally this is negotiated over a control channel.</a:t>
            </a:r>
            <a:endParaRPr lang="en-US" sz="1550" dirty="0"/>
          </a:p>
          <a:p>
            <a:pPr marL="342900" indent="-342900">
              <a:spcAft>
                <a:spcPts val="11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Modulation Format Identification (MFI) infers the format from the received signal alone, with no control channel — a core function of Optical Performance Monitoring.</a:t>
            </a:r>
            <a:endParaRPr lang="en-US" sz="1550" dirty="0"/>
          </a:p>
        </p:txBody>
      </p:sp>
      <p:pic>
        <p:nvPicPr>
          <p:cNvPr id="6" name="Image 0" descr="D:\research paper\figures\sample_constellations.png">    </p:cNvPr>
          <p:cNvPicPr>
            <a:picLocks noChangeAspect="1"/>
          </p:cNvPicPr>
          <p:nvPr/>
        </p:nvPicPr>
        <p:blipFill>
          <a:blip r:embed="rId1"/>
          <a:stretch>
            <a:fillRect/>
          </a:stretch>
        </p:blipFill>
        <p:spPr>
          <a:xfrm>
            <a:off x="5715000" y="1188720"/>
            <a:ext cx="3063240" cy="3182112"/>
          </a:xfrm>
          <a:prstGeom prst="rect">
            <a:avLst/>
          </a:prstGeom>
        </p:spPr>
      </p:pic>
      <p:sp>
        <p:nvSpPr>
          <p:cNvPr id="7" name="Text 4"/>
          <p:cNvSpPr txBox="1"/>
          <p:nvPr/>
        </p:nvSpPr>
        <p:spPr>
          <a:xfrm>
            <a:off x="5623560" y="4462272"/>
            <a:ext cx="3246120" cy="822960"/>
          </a:xfrm>
          <a:prstGeom prst="rect">
            <a:avLst/>
          </a:prstGeom>
          <a:noFill/>
          <a:ln/>
        </p:spPr>
        <p:txBody>
          <a:bodyPr wrap="square" rtlCol="0" anchor="ctr"/>
          <a:lstStyle/>
          <a:p>
            <a:pPr algn="ctr" indent="0" marL="0">
              <a:buNone/>
            </a:pPr>
            <a:r>
              <a:rPr lang="en-US" sz="1150" i="1" dirty="0">
                <a:solidFill>
                  <a:srgbClr val="444444"/>
                </a:solidFill>
                <a:latin typeface="Times New Roman" pitchFamily="34" charset="0"/>
                <a:ea typeface="Times New Roman" pitchFamily="34" charset="-122"/>
                <a:cs typeface="Times New Roman" pitchFamily="34" charset="-120"/>
              </a:rPr>
              <a:t>Five formats (rows) at decreasing OSNR (columns). At low OSNR the classes become indistinguishable.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274320" y="164592"/>
            <a:ext cx="8595360" cy="658368"/>
          </a:xfrm>
          <a:prstGeom prst="rect">
            <a:avLst/>
          </a:prstGeom>
          <a:noFill/>
          <a:ln/>
        </p:spPr>
        <p:txBody>
          <a:bodyPr wrap="square" rtlCol="0" anchor="ctr"/>
          <a:lstStyle/>
          <a:p>
            <a:pPr algn="ctr" indent="0" marL="0">
              <a:buNone/>
            </a:pPr>
            <a:r>
              <a:rPr lang="en-US" sz="3200" b="1" dirty="0">
                <a:solidFill>
                  <a:srgbClr val="0070C0"/>
                </a:solidFill>
                <a:latin typeface="Times New Roman" pitchFamily="34" charset="0"/>
                <a:ea typeface="Times New Roman" pitchFamily="34" charset="-122"/>
                <a:cs typeface="Times New Roman" pitchFamily="34" charset="-120"/>
              </a:rPr>
              <a:t>LITERATURE REVIEW</a:t>
            </a:r>
            <a:endParaRPr lang="en-US" sz="3200" dirty="0"/>
          </a:p>
        </p:txBody>
      </p:sp>
      <p:sp>
        <p:nvSpPr>
          <p:cNvPr id="3" name="Text 1"/>
          <p:cNvSpPr txBox="1"/>
          <p:nvPr/>
        </p:nvSpPr>
        <p:spPr>
          <a:xfrm>
            <a:off x="2743200" y="6446520"/>
            <a:ext cx="3657600" cy="274320"/>
          </a:xfrm>
          <a:prstGeom prst="rect">
            <a:avLst/>
          </a:prstGeom>
          <a:noFill/>
          <a:ln/>
        </p:spPr>
        <p:txBody>
          <a:bodyPr wrap="square" rtlCol="0" anchor="ctr"/>
          <a:lstStyle/>
          <a:p>
            <a:pPr algn="ctr" indent="0" marL="0">
              <a:buNone/>
            </a:pPr>
            <a:r>
              <a:rPr lang="en-US" sz="1100" dirty="0">
                <a:solidFill>
                  <a:srgbClr val="808080"/>
                </a:solidFill>
                <a:latin typeface="Arial" pitchFamily="34" charset="0"/>
                <a:ea typeface="Arial" pitchFamily="34" charset="-122"/>
                <a:cs typeface="Arial" pitchFamily="34" charset="-120"/>
              </a:rPr>
              <a:t>MEMEC702 MSE</a:t>
            </a:r>
            <a:endParaRPr lang="en-US" sz="1100" dirty="0"/>
          </a:p>
        </p:txBody>
      </p:sp>
      <p:sp>
        <p:nvSpPr>
          <p:cNvPr id="4" name="Text 2"/>
          <p:cNvSpPr txBox="1"/>
          <p:nvPr/>
        </p:nvSpPr>
        <p:spPr>
          <a:xfrm>
            <a:off x="8229600" y="6446520"/>
            <a:ext cx="640080" cy="274320"/>
          </a:xfrm>
          <a:prstGeom prst="rect">
            <a:avLst/>
          </a:prstGeom>
          <a:noFill/>
          <a:ln/>
        </p:spPr>
        <p:txBody>
          <a:bodyPr wrap="square" rtlCol="0" anchor="ctr"/>
          <a:lstStyle/>
          <a:p>
            <a:pPr algn="r" indent="0" marL="0">
              <a:buNone/>
            </a:pPr>
            <a:r>
              <a:rPr lang="en-US" sz="1100" dirty="0">
                <a:solidFill>
                  <a:srgbClr val="808080"/>
                </a:solidFill>
                <a:latin typeface="Arial" pitchFamily="34" charset="0"/>
                <a:ea typeface="Arial" pitchFamily="34" charset="-122"/>
                <a:cs typeface="Arial" pitchFamily="34" charset="-120"/>
              </a:rPr>
              <a:t>3</a:t>
            </a:r>
            <a:endParaRPr lang="en-US" sz="1100" dirty="0"/>
          </a:p>
        </p:txBody>
      </p:sp>
      <p:sp>
        <p:nvSpPr>
          <p:cNvPr id="5" name="Text 3"/>
          <p:cNvSpPr txBox="1"/>
          <p:nvPr/>
        </p:nvSpPr>
        <p:spPr>
          <a:xfrm>
            <a:off x="548640" y="1051560"/>
            <a:ext cx="8046720" cy="5120640"/>
          </a:xfrm>
          <a:prstGeom prst="rect">
            <a:avLst/>
          </a:prstGeom>
          <a:noFill/>
          <a:ln/>
        </p:spPr>
        <p:txBody>
          <a:bodyPr wrap="square" rtlCol="0" anchor="t"/>
          <a:lstStyle/>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Feature-based MFI: higher-order cumulants are the classical tool — Gaussian noise cancels at 4th order and above [2], [3].</a:t>
            </a:r>
            <a:endParaRPr lang="en-US" sz="1600" dirty="0"/>
          </a:p>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Other hand-crafted representations: amplitude histograms [5], [15], Stokes-space PCA [12], [13], ANN with genetic feature selection [14].</a:t>
            </a:r>
            <a:endParaRPr lang="en-US" sz="1600" dirty="0"/>
          </a:p>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Deep learning on constellation images: the intelligent constellation analyzer [4], joint OSNR + MFI [11], SVM on image texture [8], recent CNN case studies [16].</a:t>
            </a:r>
            <a:endParaRPr lang="en-US" sz="1600" dirty="0"/>
          </a:p>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Wireless parallel: CNNs on raw I/Q [6]; Ge et al. [7] analysed representation effects in wireless AMC; Tian et al. [9] survey DL-AMC by data representation.</a:t>
            </a:r>
            <a:endParaRPr lang="en-US" sz="1600" dirty="0"/>
          </a:p>
          <a:p>
            <a:pPr marL="342900" indent="-342900">
              <a:spcAft>
                <a:spcPts val="900"/>
              </a:spcAft>
              <a:buSzPct val="100000"/>
              <a:buChar char="▪"/>
            </a:pPr>
            <a:r>
              <a:rPr lang="en-US" sz="1600" b="1" dirty="0">
                <a:solidFill>
                  <a:srgbClr val="000000"/>
                </a:solidFill>
                <a:latin typeface="Times New Roman" pitchFamily="34" charset="0"/>
                <a:ea typeface="Times New Roman" pitchFamily="34" charset="-122"/>
                <a:cs typeface="Times New Roman" pitchFamily="34" charset="-120"/>
              </a:rPr>
              <a:t>Gap: every optical comparison changes the model and the input together, so neither factor is isolated. No study asks whether the representation affects failure self-detection.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274320" y="164592"/>
            <a:ext cx="8595360" cy="658368"/>
          </a:xfrm>
          <a:prstGeom prst="rect">
            <a:avLst/>
          </a:prstGeom>
          <a:noFill/>
          <a:ln/>
        </p:spPr>
        <p:txBody>
          <a:bodyPr wrap="square" rtlCol="0" anchor="ctr"/>
          <a:lstStyle/>
          <a:p>
            <a:pPr algn="ctr" indent="0" marL="0">
              <a:buNone/>
            </a:pPr>
            <a:r>
              <a:rPr lang="en-US" sz="3200" b="1" dirty="0">
                <a:solidFill>
                  <a:srgbClr val="0070C0"/>
                </a:solidFill>
                <a:latin typeface="Times New Roman" pitchFamily="34" charset="0"/>
                <a:ea typeface="Times New Roman" pitchFamily="34" charset="-122"/>
                <a:cs typeface="Times New Roman" pitchFamily="34" charset="-120"/>
              </a:rPr>
              <a:t>OBJECTIVES</a:t>
            </a:r>
            <a:endParaRPr lang="en-US" sz="3200" dirty="0"/>
          </a:p>
        </p:txBody>
      </p:sp>
      <p:sp>
        <p:nvSpPr>
          <p:cNvPr id="3" name="Text 1"/>
          <p:cNvSpPr txBox="1"/>
          <p:nvPr/>
        </p:nvSpPr>
        <p:spPr>
          <a:xfrm>
            <a:off x="2743200" y="6446520"/>
            <a:ext cx="3657600" cy="274320"/>
          </a:xfrm>
          <a:prstGeom prst="rect">
            <a:avLst/>
          </a:prstGeom>
          <a:noFill/>
          <a:ln/>
        </p:spPr>
        <p:txBody>
          <a:bodyPr wrap="square" rtlCol="0" anchor="ctr"/>
          <a:lstStyle/>
          <a:p>
            <a:pPr algn="ctr" indent="0" marL="0">
              <a:buNone/>
            </a:pPr>
            <a:r>
              <a:rPr lang="en-US" sz="1100" dirty="0">
                <a:solidFill>
                  <a:srgbClr val="808080"/>
                </a:solidFill>
                <a:latin typeface="Arial" pitchFamily="34" charset="0"/>
                <a:ea typeface="Arial" pitchFamily="34" charset="-122"/>
                <a:cs typeface="Arial" pitchFamily="34" charset="-120"/>
              </a:rPr>
              <a:t>MEMEC702 MSE</a:t>
            </a:r>
            <a:endParaRPr lang="en-US" sz="1100" dirty="0"/>
          </a:p>
        </p:txBody>
      </p:sp>
      <p:sp>
        <p:nvSpPr>
          <p:cNvPr id="4" name="Text 2"/>
          <p:cNvSpPr txBox="1"/>
          <p:nvPr/>
        </p:nvSpPr>
        <p:spPr>
          <a:xfrm>
            <a:off x="8229600" y="6446520"/>
            <a:ext cx="640080" cy="274320"/>
          </a:xfrm>
          <a:prstGeom prst="rect">
            <a:avLst/>
          </a:prstGeom>
          <a:noFill/>
          <a:ln/>
        </p:spPr>
        <p:txBody>
          <a:bodyPr wrap="square" rtlCol="0" anchor="ctr"/>
          <a:lstStyle/>
          <a:p>
            <a:pPr algn="r" indent="0" marL="0">
              <a:buNone/>
            </a:pPr>
            <a:r>
              <a:rPr lang="en-US" sz="1100" dirty="0">
                <a:solidFill>
                  <a:srgbClr val="808080"/>
                </a:solidFill>
                <a:latin typeface="Arial" pitchFamily="34" charset="0"/>
                <a:ea typeface="Arial" pitchFamily="34" charset="-122"/>
                <a:cs typeface="Arial" pitchFamily="34" charset="-120"/>
              </a:rPr>
              <a:t>4</a:t>
            </a:r>
            <a:endParaRPr lang="en-US" sz="1100" dirty="0"/>
          </a:p>
        </p:txBody>
      </p:sp>
      <p:sp>
        <p:nvSpPr>
          <p:cNvPr id="5" name="Text 3"/>
          <p:cNvSpPr txBox="1"/>
          <p:nvPr/>
        </p:nvSpPr>
        <p:spPr>
          <a:xfrm>
            <a:off x="548640" y="1143000"/>
            <a:ext cx="8046720" cy="5120640"/>
          </a:xfrm>
          <a:prstGeom prst="rect">
            <a:avLst/>
          </a:prstGeom>
          <a:noFill/>
          <a:ln/>
        </p:spPr>
        <p:txBody>
          <a:bodyPr wrap="square" rtlCol="0" anchor="t"/>
          <a:lstStyle/>
          <a:p>
            <a:pPr marL="342900" indent="-342900">
              <a:spcAft>
                <a:spcPts val="900"/>
              </a:spcAft>
              <a:buSzPct val="100000"/>
              <a:buChar char="▪"/>
            </a:pPr>
            <a:r>
              <a:rPr lang="en-US" sz="1700" b="1" dirty="0">
                <a:solidFill>
                  <a:srgbClr val="000000"/>
                </a:solidFill>
                <a:latin typeface="Times New Roman" pitchFamily="34" charset="0"/>
                <a:ea typeface="Times New Roman" pitchFamily="34" charset="-122"/>
                <a:cs typeface="Times New Roman" pitchFamily="34" charset="-120"/>
              </a:rPr>
              <a:t>Determine whether the reported advantage of CNN-based MFI comes from the model or from the input representation.</a:t>
            </a:r>
            <a:endParaRPr lang="en-US" sz="1700" dirty="0"/>
          </a:p>
          <a:p>
            <a:pPr marL="342900" indent="-342900">
              <a:spcAft>
                <a:spcPts val="9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Build a coherent optical link simulator with realistic impairments and validate it against exact analytic cumulants.</a:t>
            </a:r>
            <a:endParaRPr lang="en-US" sz="1700" dirty="0"/>
          </a:p>
          <a:p>
            <a:pPr marL="342900" indent="-342900">
              <a:spcAft>
                <a:spcPts val="9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Derive three representations — raw I/Q, constellation image, 15 statistical features — from the same signal realisation.</a:t>
            </a:r>
            <a:endParaRPr lang="en-US" sz="1700" dirty="0"/>
          </a:p>
          <a:p>
            <a:pPr marL="342900" indent="-342900">
              <a:spcAft>
                <a:spcPts val="9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Isolate the algorithm effect by running three different algorithms on identical features.</a:t>
            </a:r>
            <a:endParaRPr lang="en-US" sz="1700" dirty="0"/>
          </a:p>
          <a:p>
            <a:pPr marL="342900" indent="-342900">
              <a:spcAft>
                <a:spcPts val="9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Isolate the representation effect by running trained neural networks on different inputs.</a:t>
            </a:r>
            <a:endParaRPr lang="en-US" sz="1700" dirty="0"/>
          </a:p>
          <a:p>
            <a:pPr marL="342900" indent="-342900">
              <a:spcAft>
                <a:spcPts val="9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Quantify robustness under channel mismatch, and test whether each model can detect its own failure.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274320" y="164592"/>
            <a:ext cx="8595360" cy="658368"/>
          </a:xfrm>
          <a:prstGeom prst="rect">
            <a:avLst/>
          </a:prstGeom>
          <a:noFill/>
          <a:ln/>
        </p:spPr>
        <p:txBody>
          <a:bodyPr wrap="square" rtlCol="0" anchor="ctr"/>
          <a:lstStyle/>
          <a:p>
            <a:pPr algn="ctr" indent="0" marL="0">
              <a:buNone/>
            </a:pPr>
            <a:r>
              <a:rPr lang="en-US" sz="3200" b="1" dirty="0">
                <a:solidFill>
                  <a:srgbClr val="0070C0"/>
                </a:solidFill>
                <a:latin typeface="Times New Roman" pitchFamily="34" charset="0"/>
                <a:ea typeface="Times New Roman" pitchFamily="34" charset="-122"/>
                <a:cs typeface="Times New Roman" pitchFamily="34" charset="-120"/>
              </a:rPr>
              <a:t>METHODS / MATERIALS</a:t>
            </a:r>
            <a:endParaRPr lang="en-US" sz="3200" dirty="0"/>
          </a:p>
        </p:txBody>
      </p:sp>
      <p:sp>
        <p:nvSpPr>
          <p:cNvPr id="3" name="Text 1"/>
          <p:cNvSpPr txBox="1"/>
          <p:nvPr/>
        </p:nvSpPr>
        <p:spPr>
          <a:xfrm>
            <a:off x="2743200" y="6446520"/>
            <a:ext cx="3657600" cy="274320"/>
          </a:xfrm>
          <a:prstGeom prst="rect">
            <a:avLst/>
          </a:prstGeom>
          <a:noFill/>
          <a:ln/>
        </p:spPr>
        <p:txBody>
          <a:bodyPr wrap="square" rtlCol="0" anchor="ctr"/>
          <a:lstStyle/>
          <a:p>
            <a:pPr algn="ctr" indent="0" marL="0">
              <a:buNone/>
            </a:pPr>
            <a:r>
              <a:rPr lang="en-US" sz="1100" dirty="0">
                <a:solidFill>
                  <a:srgbClr val="808080"/>
                </a:solidFill>
                <a:latin typeface="Arial" pitchFamily="34" charset="0"/>
                <a:ea typeface="Arial" pitchFamily="34" charset="-122"/>
                <a:cs typeface="Arial" pitchFamily="34" charset="-120"/>
              </a:rPr>
              <a:t>MEMEC702 MSE</a:t>
            </a:r>
            <a:endParaRPr lang="en-US" sz="1100" dirty="0"/>
          </a:p>
        </p:txBody>
      </p:sp>
      <p:sp>
        <p:nvSpPr>
          <p:cNvPr id="4" name="Text 2"/>
          <p:cNvSpPr txBox="1"/>
          <p:nvPr/>
        </p:nvSpPr>
        <p:spPr>
          <a:xfrm>
            <a:off x="8229600" y="6446520"/>
            <a:ext cx="640080" cy="274320"/>
          </a:xfrm>
          <a:prstGeom prst="rect">
            <a:avLst/>
          </a:prstGeom>
          <a:noFill/>
          <a:ln/>
        </p:spPr>
        <p:txBody>
          <a:bodyPr wrap="square" rtlCol="0" anchor="ctr"/>
          <a:lstStyle/>
          <a:p>
            <a:pPr algn="r" indent="0" marL="0">
              <a:buNone/>
            </a:pPr>
            <a:r>
              <a:rPr lang="en-US" sz="1100" dirty="0">
                <a:solidFill>
                  <a:srgbClr val="808080"/>
                </a:solidFill>
                <a:latin typeface="Arial" pitchFamily="34" charset="0"/>
                <a:ea typeface="Arial" pitchFamily="34" charset="-122"/>
                <a:cs typeface="Arial" pitchFamily="34" charset="-120"/>
              </a:rPr>
              <a:t>5</a:t>
            </a:r>
            <a:endParaRPr lang="en-US" sz="1100" dirty="0"/>
          </a:p>
        </p:txBody>
      </p:sp>
      <p:sp>
        <p:nvSpPr>
          <p:cNvPr id="5" name="Text 3"/>
          <p:cNvSpPr txBox="1"/>
          <p:nvPr/>
        </p:nvSpPr>
        <p:spPr>
          <a:xfrm>
            <a:off x="548640" y="1051560"/>
            <a:ext cx="8046720" cy="5120640"/>
          </a:xfrm>
          <a:prstGeom prst="rect">
            <a:avLst/>
          </a:prstGeom>
          <a:noFill/>
          <a:ln/>
        </p:spPr>
        <p:txBody>
          <a:bodyPr wrap="square" rtlCol="0" anchor="t"/>
          <a:lstStyle/>
          <a:p>
            <a:pPr marL="342900"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Simulated coherent link, 32 GBaud, 5 formats (QPSK – 64-QAM), OSNR 5–25 dB in 1 dB steps, 63,000 captures of 4096 symbols.</a:t>
            </a:r>
            <a:endParaRPr lang="en-US" sz="1550" dirty="0"/>
          </a:p>
          <a:p>
            <a:pPr marL="342900"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Signal chain: symbols → residual chromatic dispersion → laser phase noise + frequency offset → carrier phase recovery → I/Q imbalance → AGC → ASE noise.</a:t>
            </a:r>
            <a:endParaRPr lang="en-US" sz="1550" dirty="0"/>
          </a:p>
          <a:p>
            <a:pPr marL="342900"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Simulation is required: no public optical constellation dataset exists, and the claim needs exactly controlled OSNR sweeps.</a:t>
            </a:r>
            <a:endParaRPr lang="en-US" sz="1550" dirty="0"/>
          </a:p>
          <a:p>
            <a:pPr marL="342900" indent="-342900">
              <a:spcAft>
                <a:spcPts val="900"/>
              </a:spcAft>
              <a:buSzPct val="100000"/>
              <a:buChar char="▪"/>
            </a:pPr>
            <a:r>
              <a:rPr lang="en-US" sz="1550" b="1" dirty="0">
                <a:solidFill>
                  <a:srgbClr val="000000"/>
                </a:solidFill>
                <a:latin typeface="Times New Roman" pitchFamily="34" charset="0"/>
                <a:ea typeface="Times New Roman" pitchFamily="34" charset="-122"/>
                <a:cs typeface="Times New Roman" pitchFamily="34" charset="-120"/>
              </a:rPr>
              <a:t>Validation: normalised 4th-order cumulant is an exact finite sum for a noiseless constellation. Simulator matches theory to within 0.004 for all five formats.</a:t>
            </a:r>
            <a:endParaRPr lang="en-US" sz="1550" dirty="0"/>
          </a:p>
          <a:p>
            <a:pPr marL="342900"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Three representations from the same realisation: raw I/Q (2×512), 64×64 constellation image (2-D histogram, log-scaled), 15 cumulant and amplitude features.</a:t>
            </a:r>
            <a:endParaRPr lang="en-US" sz="1550" dirty="0"/>
          </a:p>
          <a:p>
            <a:pPr marL="342900"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Split 70/15/15 stratified on (format, OSNR); three seeds (42, 43, 44); scaler fitted inside a Pipeline to prevent leakage.</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274320" y="164592"/>
            <a:ext cx="8595360" cy="658368"/>
          </a:xfrm>
          <a:prstGeom prst="rect">
            <a:avLst/>
          </a:prstGeom>
          <a:noFill/>
          <a:ln/>
        </p:spPr>
        <p:txBody>
          <a:bodyPr wrap="square" rtlCol="0" anchor="ctr"/>
          <a:lstStyle/>
          <a:p>
            <a:pPr algn="ctr" indent="0" marL="0">
              <a:buNone/>
            </a:pPr>
            <a:r>
              <a:rPr lang="en-US" sz="3200" b="1" dirty="0">
                <a:solidFill>
                  <a:srgbClr val="0070C0"/>
                </a:solidFill>
                <a:latin typeface="Times New Roman" pitchFamily="34" charset="0"/>
                <a:ea typeface="Times New Roman" pitchFamily="34" charset="-122"/>
                <a:cs typeface="Times New Roman" pitchFamily="34" charset="-120"/>
              </a:rPr>
              <a:t>EXPERIMENTATION / MODELING</a:t>
            </a:r>
            <a:endParaRPr lang="en-US" sz="3200" dirty="0"/>
          </a:p>
        </p:txBody>
      </p:sp>
      <p:sp>
        <p:nvSpPr>
          <p:cNvPr id="3" name="Text 1"/>
          <p:cNvSpPr txBox="1"/>
          <p:nvPr/>
        </p:nvSpPr>
        <p:spPr>
          <a:xfrm>
            <a:off x="2743200" y="6446520"/>
            <a:ext cx="3657600" cy="274320"/>
          </a:xfrm>
          <a:prstGeom prst="rect">
            <a:avLst/>
          </a:prstGeom>
          <a:noFill/>
          <a:ln/>
        </p:spPr>
        <p:txBody>
          <a:bodyPr wrap="square" rtlCol="0" anchor="ctr"/>
          <a:lstStyle/>
          <a:p>
            <a:pPr algn="ctr" indent="0" marL="0">
              <a:buNone/>
            </a:pPr>
            <a:r>
              <a:rPr lang="en-US" sz="1100" dirty="0">
                <a:solidFill>
                  <a:srgbClr val="808080"/>
                </a:solidFill>
                <a:latin typeface="Arial" pitchFamily="34" charset="0"/>
                <a:ea typeface="Arial" pitchFamily="34" charset="-122"/>
                <a:cs typeface="Arial" pitchFamily="34" charset="-120"/>
              </a:rPr>
              <a:t>MEMEC702 MSE</a:t>
            </a:r>
            <a:endParaRPr lang="en-US" sz="1100" dirty="0"/>
          </a:p>
        </p:txBody>
      </p:sp>
      <p:sp>
        <p:nvSpPr>
          <p:cNvPr id="4" name="Text 2"/>
          <p:cNvSpPr txBox="1"/>
          <p:nvPr/>
        </p:nvSpPr>
        <p:spPr>
          <a:xfrm>
            <a:off x="8229600" y="6446520"/>
            <a:ext cx="640080" cy="274320"/>
          </a:xfrm>
          <a:prstGeom prst="rect">
            <a:avLst/>
          </a:prstGeom>
          <a:noFill/>
          <a:ln/>
        </p:spPr>
        <p:txBody>
          <a:bodyPr wrap="square" rtlCol="0" anchor="ctr"/>
          <a:lstStyle/>
          <a:p>
            <a:pPr algn="r" indent="0" marL="0">
              <a:buNone/>
            </a:pPr>
            <a:r>
              <a:rPr lang="en-US" sz="1100" dirty="0">
                <a:solidFill>
                  <a:srgbClr val="808080"/>
                </a:solidFill>
                <a:latin typeface="Arial" pitchFamily="34" charset="0"/>
                <a:ea typeface="Arial" pitchFamily="34" charset="-122"/>
                <a:cs typeface="Arial" pitchFamily="34" charset="-120"/>
              </a:rPr>
              <a:t>6</a:t>
            </a:r>
            <a:endParaRPr lang="en-US" sz="1100" dirty="0"/>
          </a:p>
        </p:txBody>
      </p:sp>
      <p:sp>
        <p:nvSpPr>
          <p:cNvPr id="5" name="Text 3"/>
          <p:cNvSpPr txBox="1"/>
          <p:nvPr/>
        </p:nvSpPr>
        <p:spPr>
          <a:xfrm>
            <a:off x="548640" y="960120"/>
            <a:ext cx="8046720" cy="320040"/>
          </a:xfrm>
          <a:prstGeom prst="rect">
            <a:avLst/>
          </a:prstGeom>
          <a:noFill/>
          <a:ln/>
        </p:spPr>
        <p:txBody>
          <a:bodyPr wrap="square" rtlCol="0" anchor="ctr"/>
          <a:lstStyle/>
          <a:p>
            <a:pPr indent="0" marL="0">
              <a:buNone/>
            </a:pPr>
            <a:r>
              <a:rPr lang="en-US" sz="1600" dirty="0">
                <a:solidFill>
                  <a:srgbClr val="000000"/>
                </a:solidFill>
                <a:latin typeface="Times New Roman" pitchFamily="34" charset="0"/>
                <a:ea typeface="Times New Roman" pitchFamily="34" charset="-122"/>
                <a:cs typeface="Times New Roman" pitchFamily="34" charset="-120"/>
              </a:rPr>
              <a:t>The comparison in the literature changes two variables at once. We separate them.</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8046720" cy="914400"/>
        </p:xfrm>
        <a:graphic>
          <a:graphicData uri="http://schemas.openxmlformats.org/drawingml/2006/table">
            <a:tbl>
              <a:tblPr/>
              <a:tblGrid>
                <a:gridCol w="2651760"/>
                <a:gridCol w="2377440"/>
                <a:gridCol w="3017520"/>
              </a:tblGrid>
              <a:tr h="475488">
                <a:tc>
                  <a:txBody>
                    <a:bodyPr/>
                    <a:lstStyle/>
                    <a:p>
                      <a:pPr indent="0" marL="0">
                        <a:buNone/>
                      </a:pPr>
                      <a:endParaRPr lang="en-US" sz="15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00000"/>
                          </a:solidFill>
                          <a:latin typeface="Times New Roman" pitchFamily="34" charset="0"/>
                          <a:ea typeface="Times New Roman" pitchFamily="34" charset="-122"/>
                          <a:cs typeface="Times New Roman" pitchFamily="34" charset="-120"/>
                        </a:rPr>
                        <a:t>Shallow model</a:t>
                      </a:r>
                      <a:endParaRPr lang="en-US" sz="15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ctr" indent="0" marL="0">
                        <a:buNone/>
                      </a:pPr>
                      <a:r>
                        <a:rPr lang="en-US" sz="1500" b="1" dirty="0">
                          <a:solidFill>
                            <a:srgbClr val="000000"/>
                          </a:solidFill>
                          <a:latin typeface="Times New Roman" pitchFamily="34" charset="0"/>
                          <a:ea typeface="Times New Roman" pitchFamily="34" charset="-122"/>
                          <a:cs typeface="Times New Roman" pitchFamily="34" charset="-120"/>
                        </a:rPr>
                        <a:t>Deep model</a:t>
                      </a:r>
                      <a:endParaRPr lang="en-US" sz="15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475488">
                <a:tc>
                  <a:txBody>
                    <a:bodyPr/>
                    <a:lstStyle/>
                    <a:p>
                      <a:pPr indent="0" marL="0">
                        <a:buNone/>
                      </a:pPr>
                      <a:r>
                        <a:rPr lang="en-US" sz="1500" b="1" dirty="0">
                          <a:solidFill>
                            <a:srgbClr val="000000"/>
                          </a:solidFill>
                          <a:latin typeface="Times New Roman" pitchFamily="34" charset="0"/>
                          <a:ea typeface="Times New Roman" pitchFamily="34" charset="-122"/>
                          <a:cs typeface="Times New Roman" pitchFamily="34" charset="-120"/>
                        </a:rPr>
                        <a:t>15 hand-crafted features</a:t>
                      </a:r>
                      <a:endParaRPr lang="en-US" sz="15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ctr" indent="0" marL="0">
                        <a:buNone/>
                      </a:pPr>
                      <a:r>
                        <a:rPr lang="en-US" sz="1500" dirty="0">
                          <a:solidFill>
                            <a:srgbClr val="000000"/>
                          </a:solidFill>
                          <a:latin typeface="Times New Roman" pitchFamily="34" charset="0"/>
                          <a:ea typeface="Times New Roman" pitchFamily="34" charset="-122"/>
                          <a:cs typeface="Times New Roman" pitchFamily="34" charset="-120"/>
                        </a:rPr>
                        <a:t>SVM,  k-NN</a:t>
                      </a:r>
                      <a:endParaRPr lang="en-US" sz="15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ctr" indent="0" marL="0">
                        <a:buNone/>
                      </a:pPr>
                      <a:r>
                        <a:rPr lang="en-US" sz="1500" b="1" dirty="0">
                          <a:solidFill>
                            <a:srgbClr val="0070C0"/>
                          </a:solidFill>
                          <a:latin typeface="Times New Roman" pitchFamily="34" charset="0"/>
                          <a:ea typeface="Times New Roman" pitchFamily="34" charset="-122"/>
                          <a:cs typeface="Times New Roman" pitchFamily="34" charset="-120"/>
                        </a:rPr>
                        <a:t>MLP  ← the control nobody includes</a:t>
                      </a:r>
                      <a:endParaRPr lang="en-US" sz="15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475488">
                <a:tc>
                  <a:txBody>
                    <a:bodyPr/>
                    <a:lstStyle/>
                    <a:p>
                      <a:pPr indent="0" marL="0">
                        <a:buNone/>
                      </a:pPr>
                      <a:r>
                        <a:rPr lang="en-US" sz="1500" b="1" dirty="0">
                          <a:solidFill>
                            <a:srgbClr val="000000"/>
                          </a:solidFill>
                          <a:latin typeface="Times New Roman" pitchFamily="34" charset="0"/>
                          <a:ea typeface="Times New Roman" pitchFamily="34" charset="-122"/>
                          <a:cs typeface="Times New Roman" pitchFamily="34" charset="-120"/>
                        </a:rPr>
                        <a:t>64×64 constellation image</a:t>
                      </a:r>
                      <a:endParaRPr lang="en-US" sz="15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ctr" indent="0" marL="0">
                        <a:buNone/>
                      </a:pPr>
                      <a:r>
                        <a:rPr lang="en-US" sz="1500" dirty="0">
                          <a:solidFill>
                            <a:srgbClr val="000000"/>
                          </a:solidFill>
                          <a:latin typeface="Times New Roman" pitchFamily="34" charset="0"/>
                          <a:ea typeface="Times New Roman" pitchFamily="34" charset="-122"/>
                          <a:cs typeface="Times New Roman" pitchFamily="34" charset="-120"/>
                        </a:rPr>
                        <a:t>—</a:t>
                      </a:r>
                      <a:endParaRPr lang="en-US" sz="15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ctr" indent="0" marL="0">
                        <a:buNone/>
                      </a:pPr>
                      <a:r>
                        <a:rPr lang="en-US" sz="1500" dirty="0">
                          <a:solidFill>
                            <a:srgbClr val="000000"/>
                          </a:solidFill>
                          <a:latin typeface="Times New Roman" pitchFamily="34" charset="0"/>
                          <a:ea typeface="Times New Roman" pitchFamily="34" charset="-122"/>
                          <a:cs typeface="Times New Roman" pitchFamily="34" charset="-120"/>
                        </a:rPr>
                        <a:t>CNN</a:t>
                      </a:r>
                      <a:endParaRPr lang="en-US" sz="15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bl>
          </a:graphicData>
        </a:graphic>
      </p:graphicFrame>
      <p:sp>
        <p:nvSpPr>
          <p:cNvPr id="7" name="Text 4"/>
          <p:cNvSpPr txBox="1"/>
          <p:nvPr/>
        </p:nvSpPr>
        <p:spPr>
          <a:xfrm>
            <a:off x="548640" y="3200400"/>
            <a:ext cx="8046720" cy="5120640"/>
          </a:xfrm>
          <a:prstGeom prst="rect">
            <a:avLst/>
          </a:prstGeom>
          <a:noFill/>
          <a:ln/>
        </p:spPr>
        <p:txBody>
          <a:bodyPr wrap="square" rtlCol="0" anchor="t"/>
          <a:lstStyle/>
          <a:p>
            <a:pPr marL="342900"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Moving across a row changes only the algorithm → the algorithm effect.</a:t>
            </a:r>
            <a:endParaRPr lang="en-US" sz="1550" dirty="0"/>
          </a:p>
          <a:p>
            <a:pPr marL="342900"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Moving down the deep-model column changes only the input → the representation effect.</a:t>
            </a:r>
            <a:endParaRPr lang="en-US" sz="1550" dirty="0"/>
          </a:p>
          <a:p>
            <a:pPr marL="342900" indent="-342900">
              <a:spcAft>
                <a:spcPts val="900"/>
              </a:spcAft>
              <a:buSzPct val="100000"/>
              <a:buChar char="▪"/>
            </a:pPr>
            <a:r>
              <a:rPr lang="en-US" sz="1550" b="1" dirty="0">
                <a:solidFill>
                  <a:srgbClr val="000000"/>
                </a:solidFill>
                <a:latin typeface="Times New Roman" pitchFamily="34" charset="0"/>
                <a:ea typeface="Times New Roman" pitchFamily="34" charset="-122"/>
                <a:cs typeface="Times New Roman" pitchFamily="34" charset="-120"/>
              </a:rPr>
              <a:t>The MLP is the critical control: a trained deep network that sees only the 15 features. If MLP ≈ SVM the representation matters; if MLP ≈ CNN the model matters.</a:t>
            </a:r>
            <a:endParaRPr lang="en-US" sz="1550" dirty="0"/>
          </a:p>
          <a:p>
            <a:pPr marL="342900"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Five classifiers in total: CNN (285,941 params), IQ-CNN (27,781), MLP (11,013), SVM, k-NN.</a:t>
            </a:r>
            <a:endParaRPr lang="en-US" sz="1550" dirty="0"/>
          </a:p>
          <a:p>
            <a:pPr marL="342900"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Seven experiments: main comparison, generalisation to unseen OSNR, architecture ablation, capture length, channel robustness, confidence calibration, impairment tolerance.</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274320" y="164592"/>
            <a:ext cx="8595360" cy="658368"/>
          </a:xfrm>
          <a:prstGeom prst="rect">
            <a:avLst/>
          </a:prstGeom>
          <a:noFill/>
          <a:ln/>
        </p:spPr>
        <p:txBody>
          <a:bodyPr wrap="square" rtlCol="0" anchor="ctr"/>
          <a:lstStyle/>
          <a:p>
            <a:pPr algn="ctr" indent="0" marL="0">
              <a:buNone/>
            </a:pPr>
            <a:r>
              <a:rPr lang="en-US" sz="3200" b="1" dirty="0">
                <a:solidFill>
                  <a:srgbClr val="0070C0"/>
                </a:solidFill>
                <a:latin typeface="Times New Roman" pitchFamily="34" charset="0"/>
                <a:ea typeface="Times New Roman" pitchFamily="34" charset="-122"/>
                <a:cs typeface="Times New Roman" pitchFamily="34" charset="-120"/>
              </a:rPr>
              <a:t>RESULTS — THE MAIN COMPARISON</a:t>
            </a:r>
            <a:endParaRPr lang="en-US" sz="3200" dirty="0"/>
          </a:p>
        </p:txBody>
      </p:sp>
      <p:sp>
        <p:nvSpPr>
          <p:cNvPr id="3" name="Text 1"/>
          <p:cNvSpPr txBox="1"/>
          <p:nvPr/>
        </p:nvSpPr>
        <p:spPr>
          <a:xfrm>
            <a:off x="2743200" y="6446520"/>
            <a:ext cx="3657600" cy="274320"/>
          </a:xfrm>
          <a:prstGeom prst="rect">
            <a:avLst/>
          </a:prstGeom>
          <a:noFill/>
          <a:ln/>
        </p:spPr>
        <p:txBody>
          <a:bodyPr wrap="square" rtlCol="0" anchor="ctr"/>
          <a:lstStyle/>
          <a:p>
            <a:pPr algn="ctr" indent="0" marL="0">
              <a:buNone/>
            </a:pPr>
            <a:r>
              <a:rPr lang="en-US" sz="1100" dirty="0">
                <a:solidFill>
                  <a:srgbClr val="808080"/>
                </a:solidFill>
                <a:latin typeface="Arial" pitchFamily="34" charset="0"/>
                <a:ea typeface="Arial" pitchFamily="34" charset="-122"/>
                <a:cs typeface="Arial" pitchFamily="34" charset="-120"/>
              </a:rPr>
              <a:t>MEMEC702 MSE</a:t>
            </a:r>
            <a:endParaRPr lang="en-US" sz="1100" dirty="0"/>
          </a:p>
        </p:txBody>
      </p:sp>
      <p:sp>
        <p:nvSpPr>
          <p:cNvPr id="4" name="Text 2"/>
          <p:cNvSpPr txBox="1"/>
          <p:nvPr/>
        </p:nvSpPr>
        <p:spPr>
          <a:xfrm>
            <a:off x="8229600" y="6446520"/>
            <a:ext cx="640080" cy="274320"/>
          </a:xfrm>
          <a:prstGeom prst="rect">
            <a:avLst/>
          </a:prstGeom>
          <a:noFill/>
          <a:ln/>
        </p:spPr>
        <p:txBody>
          <a:bodyPr wrap="square" rtlCol="0" anchor="ctr"/>
          <a:lstStyle/>
          <a:p>
            <a:pPr algn="r" indent="0" marL="0">
              <a:buNone/>
            </a:pPr>
            <a:r>
              <a:rPr lang="en-US" sz="1100" dirty="0">
                <a:solidFill>
                  <a:srgbClr val="808080"/>
                </a:solidFill>
                <a:latin typeface="Arial" pitchFamily="34" charset="0"/>
                <a:ea typeface="Arial" pitchFamily="34" charset="-122"/>
                <a:cs typeface="Arial" pitchFamily="34" charset="-120"/>
              </a:rPr>
              <a:t>7</a:t>
            </a:r>
            <a:endParaRPr lang="en-US" sz="1100" dirty="0"/>
          </a:p>
        </p:txBody>
      </p:sp>
      <p:pic>
        <p:nvPicPr>
          <p:cNvPr id="5" name="Image 0" descr="D:\research paper\figures\fig2_representation.png">    </p:cNvPr>
          <p:cNvPicPr>
            <a:picLocks noChangeAspect="1"/>
          </p:cNvPicPr>
          <p:nvPr/>
        </p:nvPicPr>
        <p:blipFill>
          <a:blip r:embed="rId1"/>
          <a:stretch>
            <a:fillRect/>
          </a:stretch>
        </p:blipFill>
        <p:spPr>
          <a:xfrm>
            <a:off x="685800" y="914400"/>
            <a:ext cx="7772400" cy="4297680"/>
          </a:xfrm>
          <a:prstGeom prst="rect">
            <a:avLst/>
          </a:prstGeom>
        </p:spPr>
      </p:pic>
      <p:sp>
        <p:nvSpPr>
          <p:cNvPr id="6" name="Text 3"/>
          <p:cNvSpPr txBox="1"/>
          <p:nvPr/>
        </p:nvSpPr>
        <p:spPr>
          <a:xfrm>
            <a:off x="548640" y="5303520"/>
            <a:ext cx="8046720" cy="1097280"/>
          </a:xfrm>
          <a:prstGeom prst="rect">
            <a:avLst/>
          </a:prstGeom>
          <a:noFill/>
          <a:ln/>
        </p:spPr>
        <p:txBody>
          <a:bodyPr wrap="square" rtlCol="0" anchor="t"/>
          <a:lstStyle/>
          <a:p>
            <a:pPr marL="342900" indent="-342900">
              <a:spcAft>
                <a:spcPts val="400"/>
              </a:spcAft>
              <a:buSzPct val="100000"/>
              <a:buChar char="▪"/>
            </a:pPr>
            <a:r>
              <a:rPr lang="en-US" sz="1450" dirty="0">
                <a:solidFill>
                  <a:srgbClr val="000000"/>
                </a:solidFill>
                <a:latin typeface="Times New Roman" pitchFamily="34" charset="0"/>
                <a:ea typeface="Times New Roman" pitchFamily="34" charset="-122"/>
                <a:cs typeface="Times New Roman" pitchFamily="34" charset="-120"/>
              </a:rPr>
              <a:t>Algorithm effect: 1.83 points — the spread across MLP, SVM and k-NN on identical features.</a:t>
            </a:r>
            <a:endParaRPr lang="en-US" sz="1450" dirty="0"/>
          </a:p>
          <a:p>
            <a:pPr marL="342900" indent="-342900">
              <a:spcAft>
                <a:spcPts val="400"/>
              </a:spcAft>
              <a:buSzPct val="100000"/>
              <a:buChar char="▪"/>
            </a:pPr>
            <a:r>
              <a:rPr lang="en-US" sz="1450" b="1" dirty="0">
                <a:solidFill>
                  <a:srgbClr val="000000"/>
                </a:solidFill>
                <a:latin typeface="Times New Roman" pitchFamily="34" charset="0"/>
                <a:ea typeface="Times New Roman" pitchFamily="34" charset="-122"/>
                <a:cs typeface="Times New Roman" pitchFamily="34" charset="-120"/>
              </a:rPr>
              <a:t>Representation effect: 5.32 points — the CNN over the strongest of them (the SVM). That is 2.9× larger.</a:t>
            </a:r>
            <a:endParaRPr lang="en-US" sz="1450" dirty="0"/>
          </a:p>
          <a:p>
            <a:pPr marL="342900" indent="-342900">
              <a:spcAft>
                <a:spcPts val="400"/>
              </a:spcAft>
              <a:buSzPct val="100000"/>
              <a:buChar char="▪"/>
            </a:pPr>
            <a:r>
              <a:rPr lang="en-US" sz="1450" dirty="0">
                <a:solidFill>
                  <a:srgbClr val="000000"/>
                </a:solidFill>
                <a:latin typeface="Times New Roman" pitchFamily="34" charset="0"/>
                <a:ea typeface="Times New Roman" pitchFamily="34" charset="-122"/>
                <a:cs typeface="Times New Roman" pitchFamily="34" charset="-120"/>
              </a:rPr>
              <a:t>The MLP, a deep network, finished below the SVM, a shallow one: depth on features bought nothing.</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274320" y="164592"/>
            <a:ext cx="8595360" cy="658368"/>
          </a:xfrm>
          <a:prstGeom prst="rect">
            <a:avLst/>
          </a:prstGeom>
          <a:noFill/>
          <a:ln/>
        </p:spPr>
        <p:txBody>
          <a:bodyPr wrap="square" rtlCol="0" anchor="ctr"/>
          <a:lstStyle/>
          <a:p>
            <a:pPr algn="ctr" indent="0" marL="0">
              <a:buNone/>
            </a:pPr>
            <a:r>
              <a:rPr lang="en-US" sz="3200" b="1" dirty="0">
                <a:solidFill>
                  <a:srgbClr val="0070C0"/>
                </a:solidFill>
                <a:latin typeface="Times New Roman" pitchFamily="34" charset="0"/>
                <a:ea typeface="Times New Roman" pitchFamily="34" charset="-122"/>
                <a:cs typeface="Times New Roman" pitchFamily="34" charset="-120"/>
              </a:rPr>
              <a:t>RESULTS — MARGIN AND ROBUSTNESS</a:t>
            </a:r>
            <a:endParaRPr lang="en-US" sz="3200" dirty="0"/>
          </a:p>
        </p:txBody>
      </p:sp>
      <p:sp>
        <p:nvSpPr>
          <p:cNvPr id="3" name="Text 1"/>
          <p:cNvSpPr txBox="1"/>
          <p:nvPr/>
        </p:nvSpPr>
        <p:spPr>
          <a:xfrm>
            <a:off x="2743200" y="6446520"/>
            <a:ext cx="3657600" cy="274320"/>
          </a:xfrm>
          <a:prstGeom prst="rect">
            <a:avLst/>
          </a:prstGeom>
          <a:noFill/>
          <a:ln/>
        </p:spPr>
        <p:txBody>
          <a:bodyPr wrap="square" rtlCol="0" anchor="ctr"/>
          <a:lstStyle/>
          <a:p>
            <a:pPr algn="ctr" indent="0" marL="0">
              <a:buNone/>
            </a:pPr>
            <a:r>
              <a:rPr lang="en-US" sz="1100" dirty="0">
                <a:solidFill>
                  <a:srgbClr val="808080"/>
                </a:solidFill>
                <a:latin typeface="Arial" pitchFamily="34" charset="0"/>
                <a:ea typeface="Arial" pitchFamily="34" charset="-122"/>
                <a:cs typeface="Arial" pitchFamily="34" charset="-120"/>
              </a:rPr>
              <a:t>MEMEC702 MSE</a:t>
            </a:r>
            <a:endParaRPr lang="en-US" sz="1100" dirty="0"/>
          </a:p>
        </p:txBody>
      </p:sp>
      <p:sp>
        <p:nvSpPr>
          <p:cNvPr id="4" name="Text 2"/>
          <p:cNvSpPr txBox="1"/>
          <p:nvPr/>
        </p:nvSpPr>
        <p:spPr>
          <a:xfrm>
            <a:off x="8229600" y="6446520"/>
            <a:ext cx="640080" cy="274320"/>
          </a:xfrm>
          <a:prstGeom prst="rect">
            <a:avLst/>
          </a:prstGeom>
          <a:noFill/>
          <a:ln/>
        </p:spPr>
        <p:txBody>
          <a:bodyPr wrap="square" rtlCol="0" anchor="ctr"/>
          <a:lstStyle/>
          <a:p>
            <a:pPr algn="r" indent="0" marL="0">
              <a:buNone/>
            </a:pPr>
            <a:r>
              <a:rPr lang="en-US" sz="1100" dirty="0">
                <a:solidFill>
                  <a:srgbClr val="808080"/>
                </a:solidFill>
                <a:latin typeface="Arial" pitchFamily="34" charset="0"/>
                <a:ea typeface="Arial" pitchFamily="34" charset="-122"/>
                <a:cs typeface="Arial" pitchFamily="34" charset="-120"/>
              </a:rPr>
              <a:t>8</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960120"/>
          <a:ext cx="3931920" cy="914400"/>
        </p:xfrm>
        <a:graphic>
          <a:graphicData uri="http://schemas.openxmlformats.org/drawingml/2006/table">
            <a:tbl>
              <a:tblPr/>
              <a:tblGrid>
                <a:gridCol w="1371600"/>
                <a:gridCol w="1280160"/>
                <a:gridCol w="1280160"/>
              </a:tblGrid>
              <a:tr h="347472">
                <a:tc>
                  <a:txBody>
                    <a:bodyP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Model</a:t>
                      </a:r>
                      <a:endParaRPr lang="en-US" sz="14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OSNR for ≥ 95 %</a:t>
                      </a:r>
                      <a:endParaRPr lang="en-US" sz="14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OSNR for ≥ 99 %</a:t>
                      </a:r>
                      <a:endParaRPr lang="en-US" sz="14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47472">
                <a:tc>
                  <a:txBody>
                    <a:bodyPr/>
                    <a:lstStyle/>
                    <a:p>
                      <a:pPr indent="0" marL="0">
                        <a:buNone/>
                      </a:pPr>
                      <a:r>
                        <a:rPr lang="en-US" sz="1400" dirty="0">
                          <a:solidFill>
                            <a:srgbClr val="000000"/>
                          </a:solidFill>
                          <a:latin typeface="Times New Roman" pitchFamily="34" charset="0"/>
                          <a:ea typeface="Times New Roman" pitchFamily="34" charset="-122"/>
                          <a:cs typeface="Times New Roman" pitchFamily="34" charset="-120"/>
                        </a:rPr>
                        <a:t>CNN</a:t>
                      </a:r>
                      <a:endParaRPr lang="en-US" sz="14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ctr" indent="0" marL="0">
                        <a:buNone/>
                      </a:pPr>
                      <a:r>
                        <a:rPr lang="en-US" sz="1400" b="1" dirty="0">
                          <a:solidFill>
                            <a:srgbClr val="0070C0"/>
                          </a:solidFill>
                          <a:latin typeface="Times New Roman" pitchFamily="34" charset="0"/>
                          <a:ea typeface="Times New Roman" pitchFamily="34" charset="-122"/>
                          <a:cs typeface="Times New Roman" pitchFamily="34" charset="-120"/>
                        </a:rPr>
                        <a:t>7 dB</a:t>
                      </a:r>
                      <a:endParaRPr lang="en-US" sz="14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10 dB</a:t>
                      </a:r>
                      <a:endParaRPr lang="en-US" sz="14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47472">
                <a:tc>
                  <a:txBody>
                    <a:bodyPr/>
                    <a:lstStyle/>
                    <a:p>
                      <a:pPr indent="0" marL="0">
                        <a:buNone/>
                      </a:pPr>
                      <a:r>
                        <a:rPr lang="en-US" sz="1400" dirty="0">
                          <a:solidFill>
                            <a:srgbClr val="000000"/>
                          </a:solidFill>
                          <a:latin typeface="Times New Roman" pitchFamily="34" charset="0"/>
                          <a:ea typeface="Times New Roman" pitchFamily="34" charset="-122"/>
                          <a:cs typeface="Times New Roman" pitchFamily="34" charset="-120"/>
                        </a:rPr>
                        <a:t>SVM</a:t>
                      </a:r>
                      <a:endParaRPr lang="en-US" sz="14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14 dB</a:t>
                      </a:r>
                      <a:endParaRPr lang="en-US" sz="14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18 dB</a:t>
                      </a:r>
                      <a:endParaRPr lang="en-US" sz="14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47472">
                <a:tc>
                  <a:txBody>
                    <a:bodyPr/>
                    <a:lstStyle/>
                    <a:p>
                      <a:pPr indent="0" marL="0">
                        <a:buNone/>
                      </a:pPr>
                      <a:r>
                        <a:rPr lang="en-US" sz="1400" dirty="0">
                          <a:solidFill>
                            <a:srgbClr val="000000"/>
                          </a:solidFill>
                          <a:latin typeface="Times New Roman" pitchFamily="34" charset="0"/>
                          <a:ea typeface="Times New Roman" pitchFamily="34" charset="-122"/>
                          <a:cs typeface="Times New Roman" pitchFamily="34" charset="-120"/>
                        </a:rPr>
                        <a:t>k-NN</a:t>
                      </a:r>
                      <a:endParaRPr lang="en-US" sz="14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15 dB</a:t>
                      </a:r>
                      <a:endParaRPr lang="en-US" sz="14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18 dB</a:t>
                      </a:r>
                      <a:endParaRPr lang="en-US" sz="14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bl>
          </a:graphicData>
        </a:graphic>
      </p:graphicFrame>
      <p:sp>
        <p:nvSpPr>
          <p:cNvPr id="6" name="Text 3"/>
          <p:cNvSpPr txBox="1"/>
          <p:nvPr/>
        </p:nvSpPr>
        <p:spPr>
          <a:xfrm>
            <a:off x="502920" y="2606040"/>
            <a:ext cx="3931920" cy="548640"/>
          </a:xfrm>
          <a:prstGeom prst="rect">
            <a:avLst/>
          </a:prstGeom>
          <a:noFill/>
          <a:ln/>
        </p:spPr>
        <p:txBody>
          <a:bodyPr wrap="square" rtlCol="0" anchor="ctr"/>
          <a:lstStyle/>
          <a:p>
            <a:pPr indent="0" marL="0">
              <a:buNone/>
            </a:pPr>
            <a:r>
              <a:rPr lang="en-US" sz="1350" i="1" dirty="0">
                <a:solidFill>
                  <a:srgbClr val="333333"/>
                </a:solidFill>
                <a:latin typeface="Times New Roman" pitchFamily="34" charset="0"/>
                <a:ea typeface="Times New Roman" pitchFamily="34" charset="-122"/>
                <a:cs typeface="Times New Roman" pitchFamily="34" charset="-120"/>
              </a:rPr>
              <a:t>A 7 dB OSNR margin — which converts directly into reach or amplifier count.</a:t>
            </a:r>
            <a:endParaRPr lang="en-US" sz="1350" dirty="0"/>
          </a:p>
        </p:txBody>
      </p:sp>
      <p:pic>
        <p:nvPicPr>
          <p:cNvPr id="7" name="Image 0" descr="D:\research paper\figures\fig8_robustness.png">    </p:cNvPr>
          <p:cNvPicPr>
            <a:picLocks noChangeAspect="1"/>
          </p:cNvPicPr>
          <p:nvPr/>
        </p:nvPicPr>
        <p:blipFill>
          <a:blip r:embed="rId1"/>
          <a:stretch>
            <a:fillRect/>
          </a:stretch>
        </p:blipFill>
        <p:spPr>
          <a:xfrm>
            <a:off x="4572000" y="960120"/>
            <a:ext cx="4206240" cy="1709928"/>
          </a:xfrm>
          <a:prstGeom prst="rect">
            <a:avLst/>
          </a:prstGeom>
        </p:spPr>
      </p:pic>
      <p:sp>
        <p:nvSpPr>
          <p:cNvPr id="8" name="Text 4"/>
          <p:cNvSpPr txBox="1"/>
          <p:nvPr/>
        </p:nvSpPr>
        <p:spPr>
          <a:xfrm>
            <a:off x="548640" y="3063240"/>
            <a:ext cx="8046720" cy="3108960"/>
          </a:xfrm>
          <a:prstGeom prst="rect">
            <a:avLst/>
          </a:prstGeom>
          <a:noFill/>
          <a:ln/>
        </p:spPr>
        <p:txBody>
          <a:bodyPr wrap="square" rtlCol="0" anchor="t"/>
          <a:lstStyle/>
          <a:p>
            <a:pPr marL="342900" indent="-342900">
              <a:spcAft>
                <a:spcPts val="600"/>
              </a:spcAft>
              <a:buSzPct val="100000"/>
              <a:buChar char="▪"/>
            </a:pPr>
            <a:r>
              <a:rPr lang="en-US" sz="1450" b="1" dirty="0">
                <a:solidFill>
                  <a:srgbClr val="000000"/>
                </a:solidFill>
                <a:latin typeface="Times New Roman" pitchFamily="34" charset="0"/>
                <a:ea typeface="Times New Roman" pitchFamily="34" charset="-122"/>
                <a:cs typeface="Times New Roman" pitchFamily="34" charset="-120"/>
              </a:rPr>
              <a:t>Trained on a clean channel, tested on a severe one: CNN holds 89.8 %, the SVM collapses to 21.8 % against a 20 % chance level.</a:t>
            </a:r>
            <a:endParaRPr lang="en-US" sz="1450" dirty="0"/>
          </a:p>
          <a:p>
            <a:pPr marL="342900" indent="-342900">
              <a:spcAft>
                <a:spcPts val="600"/>
              </a:spcAft>
              <a:buSzPct val="100000"/>
              <a:buChar char="▪"/>
            </a:pPr>
            <a:r>
              <a:rPr lang="en-US" sz="1450" dirty="0">
                <a:solidFill>
                  <a:srgbClr val="000000"/>
                </a:solidFill>
                <a:latin typeface="Times New Roman" pitchFamily="34" charset="0"/>
                <a:ea typeface="Times New Roman" pitchFamily="34" charset="-122"/>
                <a:cs typeface="Times New Roman" pitchFamily="34" charset="-120"/>
              </a:rPr>
              <a:t>Cumulants are statistics of an assumed signal model. Change the impairments and the learned boundaries stop meaning anything.</a:t>
            </a:r>
            <a:endParaRPr lang="en-US" sz="1450" dirty="0"/>
          </a:p>
          <a:p>
            <a:pPr marL="342900" indent="-342900">
              <a:spcAft>
                <a:spcPts val="600"/>
              </a:spcAft>
              <a:buSzPct val="100000"/>
              <a:buChar char="▪"/>
            </a:pPr>
            <a:r>
              <a:rPr lang="en-US" sz="1450" dirty="0">
                <a:solidFill>
                  <a:srgbClr val="000000"/>
                </a:solidFill>
                <a:latin typeface="Times New Roman" pitchFamily="34" charset="0"/>
                <a:ea typeface="Times New Roman" pitchFamily="34" charset="-122"/>
                <a:cs typeface="Times New Roman" pitchFamily="34" charset="-120"/>
              </a:rPr>
              <a:t>Failure self-detection: at a 90 % confidence gate the CNN still answers 86.9 % of inputs, the SVM answers 0.2 % — a 447× difference in usable coverage.</a:t>
            </a:r>
            <a:endParaRPr lang="en-US" sz="1450" dirty="0"/>
          </a:p>
          <a:p>
            <a:pPr marL="342900" indent="-342900">
              <a:spcAft>
                <a:spcPts val="600"/>
              </a:spcAft>
              <a:buSzPct val="100000"/>
              <a:buChar char="▪"/>
            </a:pPr>
            <a:r>
              <a:rPr lang="en-US" sz="1450" dirty="0">
                <a:solidFill>
                  <a:srgbClr val="000000"/>
                </a:solidFill>
                <a:latin typeface="Times New Roman" pitchFamily="34" charset="0"/>
                <a:ea typeface="Times New Roman" pitchFamily="34" charset="-122"/>
                <a:cs typeface="Times New Roman" pitchFamily="34" charset="-120"/>
              </a:rPr>
              <a:t>The feature-based monitor can be made accurate only by silencing it. This interaction has not, to our knowledge, been reported before.</a:t>
            </a:r>
            <a:endParaRPr lang="en-US" sz="1450" dirty="0"/>
          </a:p>
          <a:p>
            <a:pPr marL="342900" indent="-342900">
              <a:spcAft>
                <a:spcPts val="600"/>
              </a:spcAft>
              <a:buSzPct val="100000"/>
              <a:buChar char="▪"/>
            </a:pPr>
            <a:r>
              <a:rPr lang="en-US" sz="1450" dirty="0">
                <a:solidFill>
                  <a:srgbClr val="000000"/>
                </a:solidFill>
                <a:latin typeface="Times New Roman" pitchFamily="34" charset="0"/>
                <a:ea typeface="Times New Roman" pitchFamily="34" charset="-122"/>
                <a:cs typeface="Times New Roman" pitchFamily="34" charset="-120"/>
              </a:rPr>
              <a:t>Capture length: the CNN with 512 symbols (94.08 %) beats the SVM with 4096 (93.82 %).</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274320" y="164592"/>
            <a:ext cx="8595360" cy="658368"/>
          </a:xfrm>
          <a:prstGeom prst="rect">
            <a:avLst/>
          </a:prstGeom>
          <a:noFill/>
          <a:ln/>
        </p:spPr>
        <p:txBody>
          <a:bodyPr wrap="square" rtlCol="0" anchor="ctr"/>
          <a:lstStyle/>
          <a:p>
            <a:pPr algn="ctr" indent="0" marL="0">
              <a:buNone/>
            </a:pPr>
            <a:r>
              <a:rPr lang="en-US" sz="3200" b="1" dirty="0">
                <a:solidFill>
                  <a:srgbClr val="0070C0"/>
                </a:solidFill>
                <a:latin typeface="Times New Roman" pitchFamily="34" charset="0"/>
                <a:ea typeface="Times New Roman" pitchFamily="34" charset="-122"/>
                <a:cs typeface="Times New Roman" pitchFamily="34" charset="-120"/>
              </a:rPr>
              <a:t>RESULTS — AN HONEST NEGATIVE</a:t>
            </a:r>
            <a:endParaRPr lang="en-US" sz="3200" dirty="0"/>
          </a:p>
        </p:txBody>
      </p:sp>
      <p:sp>
        <p:nvSpPr>
          <p:cNvPr id="3" name="Text 1"/>
          <p:cNvSpPr txBox="1"/>
          <p:nvPr/>
        </p:nvSpPr>
        <p:spPr>
          <a:xfrm>
            <a:off x="2743200" y="6446520"/>
            <a:ext cx="3657600" cy="274320"/>
          </a:xfrm>
          <a:prstGeom prst="rect">
            <a:avLst/>
          </a:prstGeom>
          <a:noFill/>
          <a:ln/>
        </p:spPr>
        <p:txBody>
          <a:bodyPr wrap="square" rtlCol="0" anchor="ctr"/>
          <a:lstStyle/>
          <a:p>
            <a:pPr algn="ctr" indent="0" marL="0">
              <a:buNone/>
            </a:pPr>
            <a:r>
              <a:rPr lang="en-US" sz="1100" dirty="0">
                <a:solidFill>
                  <a:srgbClr val="808080"/>
                </a:solidFill>
                <a:latin typeface="Arial" pitchFamily="34" charset="0"/>
                <a:ea typeface="Arial" pitchFamily="34" charset="-122"/>
                <a:cs typeface="Arial" pitchFamily="34" charset="-120"/>
              </a:rPr>
              <a:t>MEMEC702 MSE</a:t>
            </a:r>
            <a:endParaRPr lang="en-US" sz="1100" dirty="0"/>
          </a:p>
        </p:txBody>
      </p:sp>
      <p:sp>
        <p:nvSpPr>
          <p:cNvPr id="4" name="Text 2"/>
          <p:cNvSpPr txBox="1"/>
          <p:nvPr/>
        </p:nvSpPr>
        <p:spPr>
          <a:xfrm>
            <a:off x="8229600" y="6446520"/>
            <a:ext cx="640080" cy="274320"/>
          </a:xfrm>
          <a:prstGeom prst="rect">
            <a:avLst/>
          </a:prstGeom>
          <a:noFill/>
          <a:ln/>
        </p:spPr>
        <p:txBody>
          <a:bodyPr wrap="square" rtlCol="0" anchor="ctr"/>
          <a:lstStyle/>
          <a:p>
            <a:pPr algn="r" indent="0" marL="0">
              <a:buNone/>
            </a:pPr>
            <a:r>
              <a:rPr lang="en-US" sz="1100" dirty="0">
                <a:solidFill>
                  <a:srgbClr val="808080"/>
                </a:solidFill>
                <a:latin typeface="Arial" pitchFamily="34" charset="0"/>
                <a:ea typeface="Arial" pitchFamily="34" charset="-122"/>
                <a:cs typeface="Arial" pitchFamily="34" charset="-120"/>
              </a:rPr>
              <a:t>9</a:t>
            </a:r>
            <a:endParaRPr lang="en-US" sz="1100" dirty="0"/>
          </a:p>
        </p:txBody>
      </p:sp>
      <p:pic>
        <p:nvPicPr>
          <p:cNvPr id="5" name="Image 0" descr="D:\research paper\figures\slide_dispersion.png">    </p:cNvPr>
          <p:cNvPicPr>
            <a:picLocks noChangeAspect="1"/>
          </p:cNvPicPr>
          <p:nvPr/>
        </p:nvPicPr>
        <p:blipFill>
          <a:blip r:embed="rId1"/>
          <a:stretch>
            <a:fillRect/>
          </a:stretch>
        </p:blipFill>
        <p:spPr>
          <a:xfrm>
            <a:off x="1143000" y="914400"/>
            <a:ext cx="6858000" cy="3913632"/>
          </a:xfrm>
          <a:prstGeom prst="rect">
            <a:avLst/>
          </a:prstGeom>
        </p:spPr>
      </p:pic>
      <p:sp>
        <p:nvSpPr>
          <p:cNvPr id="6" name="Text 3"/>
          <p:cNvSpPr txBox="1"/>
          <p:nvPr/>
        </p:nvSpPr>
        <p:spPr>
          <a:xfrm>
            <a:off x="548640" y="4956048"/>
            <a:ext cx="8046720" cy="1371600"/>
          </a:xfrm>
          <a:prstGeom prst="rect">
            <a:avLst/>
          </a:prstGeom>
          <a:noFill/>
          <a:ln/>
        </p:spPr>
        <p:txBody>
          <a:bodyPr wrap="square" rtlCol="0" anchor="t"/>
          <a:lstStyle/>
          <a:p>
            <a:pPr marL="342900" indent="-342900">
              <a:spcAft>
                <a:spcPts val="500"/>
              </a:spcAft>
              <a:buSzPct val="100000"/>
              <a:buChar char="▪"/>
            </a:pPr>
            <a:r>
              <a:rPr lang="en-US" sz="1450" dirty="0">
                <a:solidFill>
                  <a:srgbClr val="000000"/>
                </a:solidFill>
                <a:latin typeface="Times New Roman" pitchFamily="34" charset="0"/>
                <a:ea typeface="Times New Roman" pitchFamily="34" charset="-122"/>
                <a:cs typeface="Times New Roman" pitchFamily="34" charset="-120"/>
              </a:rPr>
              <a:t>I/Q imbalance destroys the cumulant features: at 2.5 dB the SVM falls to 20.35 % while the CNN holds 95.48 %.</a:t>
            </a:r>
            <a:endParaRPr lang="en-US" sz="1450" dirty="0"/>
          </a:p>
          <a:p>
            <a:pPr marL="342900" indent="-342900">
              <a:spcAft>
                <a:spcPts val="500"/>
              </a:spcAft>
              <a:buSzPct val="100000"/>
              <a:buChar char="▪"/>
            </a:pPr>
            <a:r>
              <a:rPr lang="en-US" sz="1450" b="1" dirty="0">
                <a:solidFill>
                  <a:srgbClr val="000000"/>
                </a:solidFill>
                <a:latin typeface="Times New Roman" pitchFamily="34" charset="0"/>
                <a:ea typeface="Times New Roman" pitchFamily="34" charset="-122"/>
                <a:cs typeface="Times New Roman" pitchFamily="34" charset="-120"/>
              </a:rPr>
              <a:t>But residual chromatic dispersion inverts the headline. At 150 ps/nm the SVM scores 80.14 % and the CNN only 54.89 %.</a:t>
            </a:r>
            <a:endParaRPr lang="en-US" sz="1450" dirty="0"/>
          </a:p>
          <a:p>
            <a:pPr marL="342900" indent="-342900">
              <a:spcAft>
                <a:spcPts val="500"/>
              </a:spcAft>
              <a:buSzPct val="100000"/>
              <a:buChar char="▪"/>
            </a:pPr>
            <a:r>
              <a:rPr lang="en-US" sz="1450" dirty="0">
                <a:solidFill>
                  <a:srgbClr val="000000"/>
                </a:solidFill>
                <a:latin typeface="Times New Roman" pitchFamily="34" charset="0"/>
                <a:ea typeface="Times New Roman" pitchFamily="34" charset="-122"/>
                <a:cs typeface="Times New Roman" pitchFamily="34" charset="-120"/>
              </a:rPr>
              <a:t>We report this rather than bury it — it bounds the claim and points to a possible hybrid representation.</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274320" y="164592"/>
            <a:ext cx="8595360" cy="658368"/>
          </a:xfrm>
          <a:prstGeom prst="rect">
            <a:avLst/>
          </a:prstGeom>
          <a:noFill/>
          <a:ln/>
        </p:spPr>
        <p:txBody>
          <a:bodyPr wrap="square" rtlCol="0" anchor="ctr"/>
          <a:lstStyle/>
          <a:p>
            <a:pPr algn="ctr" indent="0" marL="0">
              <a:buNone/>
            </a:pPr>
            <a:r>
              <a:rPr lang="en-US" sz="3200" b="1" dirty="0">
                <a:solidFill>
                  <a:srgbClr val="0070C0"/>
                </a:solidFill>
                <a:latin typeface="Times New Roman" pitchFamily="34" charset="0"/>
                <a:ea typeface="Times New Roman" pitchFamily="34" charset="-122"/>
                <a:cs typeface="Times New Roman" pitchFamily="34" charset="-120"/>
              </a:rPr>
              <a:t>CONCLUSIONS</a:t>
            </a:r>
            <a:endParaRPr lang="en-US" sz="3200" dirty="0"/>
          </a:p>
        </p:txBody>
      </p:sp>
      <p:sp>
        <p:nvSpPr>
          <p:cNvPr id="3" name="Text 1"/>
          <p:cNvSpPr txBox="1"/>
          <p:nvPr/>
        </p:nvSpPr>
        <p:spPr>
          <a:xfrm>
            <a:off x="2743200" y="6446520"/>
            <a:ext cx="3657600" cy="274320"/>
          </a:xfrm>
          <a:prstGeom prst="rect">
            <a:avLst/>
          </a:prstGeom>
          <a:noFill/>
          <a:ln/>
        </p:spPr>
        <p:txBody>
          <a:bodyPr wrap="square" rtlCol="0" anchor="ctr"/>
          <a:lstStyle/>
          <a:p>
            <a:pPr algn="ctr" indent="0" marL="0">
              <a:buNone/>
            </a:pPr>
            <a:r>
              <a:rPr lang="en-US" sz="1100" dirty="0">
                <a:solidFill>
                  <a:srgbClr val="808080"/>
                </a:solidFill>
                <a:latin typeface="Arial" pitchFamily="34" charset="0"/>
                <a:ea typeface="Arial" pitchFamily="34" charset="-122"/>
                <a:cs typeface="Arial" pitchFamily="34" charset="-120"/>
              </a:rPr>
              <a:t>MEMEC702 MSE</a:t>
            </a:r>
            <a:endParaRPr lang="en-US" sz="1100" dirty="0"/>
          </a:p>
        </p:txBody>
      </p:sp>
      <p:sp>
        <p:nvSpPr>
          <p:cNvPr id="4" name="Text 2"/>
          <p:cNvSpPr txBox="1"/>
          <p:nvPr/>
        </p:nvSpPr>
        <p:spPr>
          <a:xfrm>
            <a:off x="8229600" y="6446520"/>
            <a:ext cx="640080" cy="274320"/>
          </a:xfrm>
          <a:prstGeom prst="rect">
            <a:avLst/>
          </a:prstGeom>
          <a:noFill/>
          <a:ln/>
        </p:spPr>
        <p:txBody>
          <a:bodyPr wrap="square" rtlCol="0" anchor="ctr"/>
          <a:lstStyle/>
          <a:p>
            <a:pPr algn="r" indent="0" marL="0">
              <a:buNone/>
            </a:pPr>
            <a:r>
              <a:rPr lang="en-US" sz="1100" dirty="0">
                <a:solidFill>
                  <a:srgbClr val="808080"/>
                </a:solidFill>
                <a:latin typeface="Arial" pitchFamily="34" charset="0"/>
                <a:ea typeface="Arial" pitchFamily="34" charset="-122"/>
                <a:cs typeface="Arial" pitchFamily="34" charset="-120"/>
              </a:rPr>
              <a:t>10</a:t>
            </a:r>
            <a:endParaRPr lang="en-US" sz="1100" dirty="0"/>
          </a:p>
        </p:txBody>
      </p:sp>
      <p:sp>
        <p:nvSpPr>
          <p:cNvPr id="5" name="Text 3"/>
          <p:cNvSpPr txBox="1"/>
          <p:nvPr/>
        </p:nvSpPr>
        <p:spPr>
          <a:xfrm>
            <a:off x="548640" y="1097280"/>
            <a:ext cx="8046720" cy="5120640"/>
          </a:xfrm>
          <a:prstGeom prst="rect">
            <a:avLst/>
          </a:prstGeom>
          <a:noFill/>
          <a:ln/>
        </p:spPr>
        <p:txBody>
          <a:bodyPr wrap="square" rtlCol="0" anchor="t"/>
          <a:lstStyle/>
          <a:p>
            <a:pPr marL="342900" indent="-342900">
              <a:spcAft>
                <a:spcPts val="900"/>
              </a:spcAft>
              <a:buSzPct val="100000"/>
              <a:buChar char="▪"/>
            </a:pPr>
            <a:r>
              <a:rPr lang="en-US" sz="1600" b="1" dirty="0">
                <a:solidFill>
                  <a:srgbClr val="000000"/>
                </a:solidFill>
                <a:latin typeface="Times New Roman" pitchFamily="34" charset="0"/>
                <a:ea typeface="Times New Roman" pitchFamily="34" charset="-122"/>
                <a:cs typeface="Times New Roman" pitchFamily="34" charset="-120"/>
              </a:rPr>
              <a:t>The input representation, not the learning algorithm, is the dominant design variable in optical MFI — worth 2.9× as much on matched channels.</a:t>
            </a:r>
            <a:endParaRPr lang="en-US" sz="1600" dirty="0"/>
          </a:p>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Three very different algorithms on identical features perform within 1.83 points of one another. Adding depth to the feature pipeline bought nothing.</a:t>
            </a:r>
            <a:endParaRPr lang="en-US" sz="1600" dirty="0"/>
          </a:p>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The advantage widens sharply under channel mismatch: 89.8 % against 21.8 %, where 20 % is chance.</a:t>
            </a:r>
            <a:endParaRPr lang="en-US" sz="1600" dirty="0"/>
          </a:p>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The representation also governs whether a confidence-gated monitor stays operational at all — 86.9 % coverage against 0.2 %.</a:t>
            </a:r>
            <a:endParaRPr lang="en-US" sz="1600" dirty="0"/>
          </a:p>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The simulator is validated against exact analytic cumulants, and every reported number is recomputed from saved weights by an independent script.</a:t>
            </a:r>
            <a:endParaRPr lang="en-US" sz="1600" dirty="0"/>
          </a:p>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Limits stated plainly: simulation only, single polarisation, linear channel, fixed symbol rate, five formats — and dispersion favours the hand-crafted features.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274320" y="164592"/>
            <a:ext cx="8595360" cy="658368"/>
          </a:xfrm>
          <a:prstGeom prst="rect">
            <a:avLst/>
          </a:prstGeom>
          <a:noFill/>
          <a:ln/>
        </p:spPr>
        <p:txBody>
          <a:bodyPr wrap="square" rtlCol="0" anchor="ctr"/>
          <a:lstStyle/>
          <a:p>
            <a:pPr algn="ctr" indent="0" marL="0">
              <a:buNone/>
            </a:pPr>
            <a:r>
              <a:rPr lang="en-US" sz="3200" b="1" dirty="0">
                <a:solidFill>
                  <a:srgbClr val="0070C0"/>
                </a:solidFill>
                <a:latin typeface="Times New Roman" pitchFamily="34" charset="0"/>
                <a:ea typeface="Times New Roman" pitchFamily="34" charset="-122"/>
                <a:cs typeface="Times New Roman" pitchFamily="34" charset="-120"/>
              </a:rPr>
              <a:t>PUBLICATION</a:t>
            </a:r>
            <a:endParaRPr lang="en-US" sz="3200" dirty="0"/>
          </a:p>
        </p:txBody>
      </p:sp>
      <p:sp>
        <p:nvSpPr>
          <p:cNvPr id="3" name="Text 1"/>
          <p:cNvSpPr txBox="1"/>
          <p:nvPr/>
        </p:nvSpPr>
        <p:spPr>
          <a:xfrm>
            <a:off x="2743200" y="6446520"/>
            <a:ext cx="3657600" cy="274320"/>
          </a:xfrm>
          <a:prstGeom prst="rect">
            <a:avLst/>
          </a:prstGeom>
          <a:noFill/>
          <a:ln/>
        </p:spPr>
        <p:txBody>
          <a:bodyPr wrap="square" rtlCol="0" anchor="ctr"/>
          <a:lstStyle/>
          <a:p>
            <a:pPr algn="ctr" indent="0" marL="0">
              <a:buNone/>
            </a:pPr>
            <a:r>
              <a:rPr lang="en-US" sz="1100" dirty="0">
                <a:solidFill>
                  <a:srgbClr val="808080"/>
                </a:solidFill>
                <a:latin typeface="Arial" pitchFamily="34" charset="0"/>
                <a:ea typeface="Arial" pitchFamily="34" charset="-122"/>
                <a:cs typeface="Arial" pitchFamily="34" charset="-120"/>
              </a:rPr>
              <a:t>MEMEC702 MSE</a:t>
            </a:r>
            <a:endParaRPr lang="en-US" sz="1100" dirty="0"/>
          </a:p>
        </p:txBody>
      </p:sp>
      <p:sp>
        <p:nvSpPr>
          <p:cNvPr id="4" name="Text 2"/>
          <p:cNvSpPr txBox="1"/>
          <p:nvPr/>
        </p:nvSpPr>
        <p:spPr>
          <a:xfrm>
            <a:off x="8229600" y="6446520"/>
            <a:ext cx="640080" cy="274320"/>
          </a:xfrm>
          <a:prstGeom prst="rect">
            <a:avLst/>
          </a:prstGeom>
          <a:noFill/>
          <a:ln/>
        </p:spPr>
        <p:txBody>
          <a:bodyPr wrap="square" rtlCol="0" anchor="ctr"/>
          <a:lstStyle/>
          <a:p>
            <a:pPr algn="r" indent="0" marL="0">
              <a:buNone/>
            </a:pPr>
            <a:r>
              <a:rPr lang="en-US" sz="1100" dirty="0">
                <a:solidFill>
                  <a:srgbClr val="808080"/>
                </a:solidFill>
                <a:latin typeface="Arial" pitchFamily="34" charset="0"/>
                <a:ea typeface="Arial" pitchFamily="34" charset="-122"/>
                <a:cs typeface="Arial" pitchFamily="34" charset="-120"/>
              </a:rPr>
              <a:t>11</a:t>
            </a:r>
            <a:endParaRPr lang="en-US" sz="1100" dirty="0"/>
          </a:p>
        </p:txBody>
      </p:sp>
      <p:sp>
        <p:nvSpPr>
          <p:cNvPr id="5" name="Text 3"/>
          <p:cNvSpPr txBox="1"/>
          <p:nvPr/>
        </p:nvSpPr>
        <p:spPr>
          <a:xfrm>
            <a:off x="548640" y="1143000"/>
            <a:ext cx="8046720" cy="5120640"/>
          </a:xfrm>
          <a:prstGeom prst="rect">
            <a:avLst/>
          </a:prstGeom>
          <a:noFill/>
          <a:ln/>
        </p:spPr>
        <p:txBody>
          <a:bodyPr wrap="square" rtlCol="0" anchor="t"/>
          <a:lstStyle/>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Manuscript complete in IEEE conference format: 8 pages, 9 figures, 10 references, compiles clean with zero overfull boxes.</a:t>
            </a:r>
            <a:endParaRPr lang="en-US" sz="1600" dirty="0"/>
          </a:p>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Title: “Input Representation Dominates Model Choice in Machine-Learning Modulation Format Identification”.</a:t>
            </a:r>
            <a:endParaRPr lang="en-US" sz="1600" dirty="0"/>
          </a:p>
          <a:p>
            <a:pPr marL="342900" indent="-342900">
              <a:spcAft>
                <a:spcPts val="900"/>
              </a:spcAft>
              <a:buSzPct val="100000"/>
              <a:buChar char="▪"/>
            </a:pPr>
            <a:r>
              <a:rPr lang="en-US" sz="1600" b="1" dirty="0">
                <a:solidFill>
                  <a:srgbClr val="000000"/>
                </a:solidFill>
                <a:latin typeface="Times New Roman" pitchFamily="34" charset="0"/>
                <a:ea typeface="Times New Roman" pitchFamily="34" charset="-122"/>
                <a:cs typeface="Times New Roman" pitchFamily="34" charset="-120"/>
              </a:rPr>
              <a:t>Target venue: QPAIN 2027 — IEEE 3rd International Conference on Quantum Photonics, AI and Networking. Submission deadline 30 November 2026.</a:t>
            </a:r>
            <a:endParaRPr lang="en-US" sz="1600" dirty="0"/>
          </a:p>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IEEE Photonics Society sponsored; indexed in IEEE Xplore and Scopus. Backup venue: PHOTOPTICS.</a:t>
            </a:r>
            <a:endParaRPr lang="en-US" sz="1600" dirty="0"/>
          </a:p>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Status: not yet submitted. Remaining work is a trim from 8 pages to the 4–6 page limit.</a:t>
            </a:r>
            <a:endParaRPr lang="en-US" sz="1600" dirty="0"/>
          </a:p>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Code and data-generation scripts are public at github.com/techi101/optical-mfi-representation; every number regenerates from a fixed seed.</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274320" y="164592"/>
            <a:ext cx="8595360" cy="658368"/>
          </a:xfrm>
          <a:prstGeom prst="rect">
            <a:avLst/>
          </a:prstGeom>
          <a:noFill/>
          <a:ln/>
        </p:spPr>
        <p:txBody>
          <a:bodyPr wrap="square" rtlCol="0" anchor="ctr"/>
          <a:lstStyle/>
          <a:p>
            <a:pPr algn="ctr" indent="0" marL="0">
              <a:buNone/>
            </a:pPr>
            <a:r>
              <a:rPr lang="en-US" sz="3200" b="1" dirty="0">
                <a:solidFill>
                  <a:srgbClr val="0070C0"/>
                </a:solidFill>
                <a:latin typeface="Times New Roman" pitchFamily="34" charset="0"/>
                <a:ea typeface="Times New Roman" pitchFamily="34" charset="-122"/>
                <a:cs typeface="Times New Roman" pitchFamily="34" charset="-120"/>
              </a:rPr>
              <a:t>REFERENCES</a:t>
            </a:r>
            <a:endParaRPr lang="en-US" sz="3200" dirty="0"/>
          </a:p>
        </p:txBody>
      </p:sp>
      <p:sp>
        <p:nvSpPr>
          <p:cNvPr id="3" name="Text 1"/>
          <p:cNvSpPr txBox="1"/>
          <p:nvPr/>
        </p:nvSpPr>
        <p:spPr>
          <a:xfrm>
            <a:off x="2743200" y="6446520"/>
            <a:ext cx="3657600" cy="274320"/>
          </a:xfrm>
          <a:prstGeom prst="rect">
            <a:avLst/>
          </a:prstGeom>
          <a:noFill/>
          <a:ln/>
        </p:spPr>
        <p:txBody>
          <a:bodyPr wrap="square" rtlCol="0" anchor="ctr"/>
          <a:lstStyle/>
          <a:p>
            <a:pPr algn="ctr" indent="0" marL="0">
              <a:buNone/>
            </a:pPr>
            <a:r>
              <a:rPr lang="en-US" sz="1100" dirty="0">
                <a:solidFill>
                  <a:srgbClr val="808080"/>
                </a:solidFill>
                <a:latin typeface="Arial" pitchFamily="34" charset="0"/>
                <a:ea typeface="Arial" pitchFamily="34" charset="-122"/>
                <a:cs typeface="Arial" pitchFamily="34" charset="-120"/>
              </a:rPr>
              <a:t>MEMEC702 MSE</a:t>
            </a:r>
            <a:endParaRPr lang="en-US" sz="1100" dirty="0"/>
          </a:p>
        </p:txBody>
      </p:sp>
      <p:sp>
        <p:nvSpPr>
          <p:cNvPr id="4" name="Text 2"/>
          <p:cNvSpPr txBox="1"/>
          <p:nvPr/>
        </p:nvSpPr>
        <p:spPr>
          <a:xfrm>
            <a:off x="8229600" y="6446520"/>
            <a:ext cx="640080" cy="274320"/>
          </a:xfrm>
          <a:prstGeom prst="rect">
            <a:avLst/>
          </a:prstGeom>
          <a:noFill/>
          <a:ln/>
        </p:spPr>
        <p:txBody>
          <a:bodyPr wrap="square" rtlCol="0" anchor="ctr"/>
          <a:lstStyle/>
          <a:p>
            <a:pPr algn="r" indent="0" marL="0">
              <a:buNone/>
            </a:pPr>
            <a:r>
              <a:rPr lang="en-US" sz="1100" dirty="0">
                <a:solidFill>
                  <a:srgbClr val="808080"/>
                </a:solidFill>
                <a:latin typeface="Arial" pitchFamily="34" charset="0"/>
                <a:ea typeface="Arial" pitchFamily="34" charset="-122"/>
                <a:cs typeface="Arial" pitchFamily="34" charset="-120"/>
              </a:rPr>
              <a:t>12</a:t>
            </a:r>
            <a:endParaRPr lang="en-US" sz="1100" dirty="0"/>
          </a:p>
        </p:txBody>
      </p:sp>
      <p:sp>
        <p:nvSpPr>
          <p:cNvPr id="5" name="Text 3"/>
          <p:cNvSpPr txBox="1"/>
          <p:nvPr/>
        </p:nvSpPr>
        <p:spPr>
          <a:xfrm>
            <a:off x="457200" y="914400"/>
            <a:ext cx="8229600" cy="5394960"/>
          </a:xfrm>
          <a:prstGeom prst="rect">
            <a:avLst/>
          </a:prstGeom>
          <a:noFill/>
          <a:ln/>
        </p:spPr>
        <p:txBody>
          <a:bodyPr wrap="square" rtlCol="0" anchor="t"/>
          <a:lstStyle/>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[1]  F. N. Khan, Q. Fan, C. Lu, A. P. T. Lau, “An optical communication’s perspective on machine learning and its applications,” J. Lightw. Technol., vol. 37, no. 2, pp. 493–516, 2019.</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[2]  A. Swami, B. M. Sadler, “Hierarchical digital modulation classification using cumulants,” IEEE Trans. Commun., vol. 48, no. 3, pp. 416–429, 2000.</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[3]  O. A. Dobre, A. Abdi, Y. Bar-Ness, W. Su, “Survey of automatic modulation classification techniques,” IET Commun., vol. 1, no. 2, pp. 137–156, 2007.</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[4]  D. Wang et al., “Intelligent constellation diagram analyzer using CNN-based deep learning,” Opt. Express, vol. 25, no. 15, pp. 17150–17166, 2017.</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[5]  F. N. Khan et al., “Modulation format identification in coherent receivers using deep machine learning,” IEEE Photon. Technol. Lett., vol. 28, no. 17, pp. 1886–1889, 2016.</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[6]  T. J. O’Shea, J. Corgan, T. C. Clancy, “Convolutional radio modulation recognition networks,” EANN 2016, CCIS vol. 629, Springer, pp. 213–226.</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[7]  Z. Ge, H. Jiang, Y. Guo, J. Zhou, “Accuracy analysis of feature-based AMC via deep neural network,” Sensors, vol. 21, no. 24, art. 8252, 2021.</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[8]  Z. Huang et al., “Modulation format identification based on signal constellation diagrams and SVM,” Photonics, vol. 9, no. 12, art. 927, 2022.</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[9]  X. Tian et al., “A survey on deep learning enabled AMC methods,” Signal Processing, vol. 242, art. 110444, 2026.</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[10]  H. Yang, R. Sahay, “An uncertainty quantification framework for deep learning-based AMC,” arXiv:2503.04142, 2025.</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[11]  F. N. Khan et al., “Joint OSNR monitoring and MFI in digital coherent receivers using DNNs,” Opt. Express, vol. 25, no. 15, p. 17767, 2017.</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[12]  H. Xu et al., “Blind and low-complexity MFI using PCA of Stokes parameters for elastic optical networks,” Opt. Express, vol. 28, no. 14, p. 20249, 2020.</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[13]  J. Jiang et al., “Blind modulation format identification based on PCA and SVD,” Electronics, vol. 11, no. 4, art. 612, 2022.</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[14]  S. Zhang et al., “MFI in heterogeneous fiber-optic networks using ANNs and genetic algorithms,” Photonic Netw. Commun., vol. 32, no. 2, pp. 246–252, 2016.</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[15]  T. Wang, X. Liu, “A novel modulation format identification based on amplitude histogram space,” Front. Optoelectron., vol. 12, no. 2, pp. 190–196, 2019.</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[16]  M. Leblebici, A. Çalhan, M. Cicioğlu, “Deep learning-based modulation recognition with constellation diagram: a case study,” Phys. Commun., vol. 63, art. 102285, 2024.</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BTP I MEMEC702 Mid Sem Evaluation</dc:title>
  <dc:subject>PptxGenJS Presentation</dc:subject>
  <dc:creator>Nitesh Kumar Yadav, Yash Mittal, Sajan</dc:creator>
  <cp:lastModifiedBy>Nitesh Kumar Yadav, Yash Mittal, Sajan</cp:lastModifiedBy>
  <cp:revision>1</cp:revision>
  <dcterms:created xsi:type="dcterms:W3CDTF">2026-09-24T01:04:22Z</dcterms:created>
  <dcterms:modified xsi:type="dcterms:W3CDTF">2026-09-24T01:04:22Z</dcterms:modified>
</cp:coreProperties>
</file>